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428" r:id="rId1"/>
    <p:sldMasterId id="2147484416" r:id="rId2"/>
  </p:sldMasterIdLst>
  <p:notesMasterIdLst>
    <p:notesMasterId r:id="rId33"/>
  </p:notesMasterIdLst>
  <p:handoutMasterIdLst>
    <p:handoutMasterId r:id="rId34"/>
  </p:handoutMasterIdLst>
  <p:sldIdLst>
    <p:sldId id="562" r:id="rId3"/>
    <p:sldId id="565" r:id="rId4"/>
    <p:sldId id="567" r:id="rId5"/>
    <p:sldId id="566" r:id="rId6"/>
    <p:sldId id="569" r:id="rId7"/>
    <p:sldId id="568" r:id="rId8"/>
    <p:sldId id="570" r:id="rId9"/>
    <p:sldId id="571" r:id="rId10"/>
    <p:sldId id="578" r:id="rId11"/>
    <p:sldId id="271" r:id="rId12"/>
    <p:sldId id="572" r:id="rId13"/>
    <p:sldId id="573" r:id="rId14"/>
    <p:sldId id="574" r:id="rId15"/>
    <p:sldId id="575" r:id="rId16"/>
    <p:sldId id="269" r:id="rId17"/>
    <p:sldId id="583" r:id="rId18"/>
    <p:sldId id="576" r:id="rId19"/>
    <p:sldId id="581" r:id="rId20"/>
    <p:sldId id="582" r:id="rId21"/>
    <p:sldId id="577" r:id="rId22"/>
    <p:sldId id="274" r:id="rId23"/>
    <p:sldId id="580" r:id="rId24"/>
    <p:sldId id="579" r:id="rId25"/>
    <p:sldId id="584" r:id="rId26"/>
    <p:sldId id="585" r:id="rId27"/>
    <p:sldId id="586" r:id="rId28"/>
    <p:sldId id="587" r:id="rId29"/>
    <p:sldId id="591" r:id="rId30"/>
    <p:sldId id="589" r:id="rId31"/>
    <p:sldId id="590" r:id="rId32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400" b="1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400" b="1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400" b="1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400" b="1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2AF0727-DA65-4963-BCAD-CAAB37304194}">
          <p14:sldIdLst>
            <p14:sldId id="562"/>
            <p14:sldId id="565"/>
            <p14:sldId id="567"/>
            <p14:sldId id="566"/>
            <p14:sldId id="569"/>
            <p14:sldId id="568"/>
            <p14:sldId id="570"/>
            <p14:sldId id="571"/>
            <p14:sldId id="578"/>
            <p14:sldId id="271"/>
            <p14:sldId id="572"/>
            <p14:sldId id="573"/>
            <p14:sldId id="574"/>
            <p14:sldId id="575"/>
            <p14:sldId id="269"/>
            <p14:sldId id="583"/>
            <p14:sldId id="576"/>
            <p14:sldId id="581"/>
            <p14:sldId id="582"/>
            <p14:sldId id="577"/>
            <p14:sldId id="274"/>
            <p14:sldId id="580"/>
            <p14:sldId id="579"/>
            <p14:sldId id="584"/>
            <p14:sldId id="585"/>
            <p14:sldId id="586"/>
            <p14:sldId id="587"/>
            <p14:sldId id="591"/>
            <p14:sldId id="589"/>
            <p14:sldId id="5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636" userDrawn="1">
          <p15:clr>
            <a:srgbClr val="A4A3A4"/>
          </p15:clr>
        </p15:guide>
        <p15:guide id="2" orient="horz" pos="2591" userDrawn="1">
          <p15:clr>
            <a:srgbClr val="A4A3A4"/>
          </p15:clr>
        </p15:guide>
        <p15:guide id="3" pos="2553" userDrawn="1">
          <p15:clr>
            <a:srgbClr val="A4A3A4"/>
          </p15:clr>
        </p15:guide>
        <p15:guide id="4" pos="6136" userDrawn="1">
          <p15:clr>
            <a:srgbClr val="A4A3A4"/>
          </p15:clr>
        </p15:guide>
        <p15:guide id="5" pos="2576" userDrawn="1">
          <p15:clr>
            <a:srgbClr val="A4A3A4"/>
          </p15:clr>
        </p15:guide>
        <p15:guide id="6" pos="28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시스코어 1" initials="시1" lastIdx="1" clrIdx="0">
    <p:extLst>
      <p:ext uri="{19B8F6BF-5375-455C-9EA6-DF929625EA0E}">
        <p15:presenceInfo xmlns:p15="http://schemas.microsoft.com/office/powerpoint/2012/main" userId="67a4f3d901eb9dc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0000FF"/>
    <a:srgbClr val="BFBFBF"/>
    <a:srgbClr val="CCECFF"/>
    <a:srgbClr val="0D0D0D"/>
    <a:srgbClr val="00CCFF"/>
    <a:srgbClr val="8CDCFF"/>
    <a:srgbClr val="FBE5D5"/>
    <a:srgbClr val="6699FF"/>
    <a:srgbClr val="1025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09" autoAdjust="0"/>
    <p:restoredTop sz="67239" autoAdjust="0"/>
  </p:normalViewPr>
  <p:slideViewPr>
    <p:cSldViewPr showGuides="1">
      <p:cViewPr varScale="1">
        <p:scale>
          <a:sx n="149" d="100"/>
          <a:sy n="149" d="100"/>
        </p:scale>
        <p:origin x="96" y="2436"/>
      </p:cViewPr>
      <p:guideLst>
        <p:guide orient="horz" pos="2636"/>
        <p:guide orient="horz" pos="2591"/>
        <p:guide pos="2553"/>
        <p:guide pos="6136"/>
        <p:guide pos="2576"/>
        <p:guide pos="282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111" d="100"/>
          <a:sy n="111" d="100"/>
        </p:scale>
        <p:origin x="5184" y="126"/>
      </p:cViewPr>
      <p:guideLst>
        <p:guide orient="horz" pos="3126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commentAuthors" Target="commentAuthor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8"/>
            <a:ext cx="2946400" cy="496809"/>
          </a:xfrm>
          <a:prstGeom prst="rect">
            <a:avLst/>
          </a:prstGeom>
        </p:spPr>
        <p:txBody>
          <a:bodyPr vert="horz" lIns="91427" tIns="45713" rIns="91427" bIns="45713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9" y="8"/>
            <a:ext cx="2946400" cy="496809"/>
          </a:xfrm>
          <a:prstGeom prst="rect">
            <a:avLst/>
          </a:prstGeom>
        </p:spPr>
        <p:txBody>
          <a:bodyPr vert="horz" lIns="91427" tIns="45713" rIns="91427" bIns="45713" rtlCol="0"/>
          <a:lstStyle>
            <a:lvl1pPr algn="r">
              <a:defRPr sz="1200"/>
            </a:lvl1pPr>
          </a:lstStyle>
          <a:p>
            <a:pPr>
              <a:defRPr/>
            </a:pPr>
            <a:fld id="{5FA03525-1AA4-48E6-AA2B-4485C77E5BEF}" type="datetimeFigureOut">
              <a:rPr lang="ko-KR" altLang="en-US"/>
              <a:pPr>
                <a:defRPr/>
              </a:pPr>
              <a:t>2026-01-14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8250"/>
            <a:ext cx="2946400" cy="496809"/>
          </a:xfrm>
          <a:prstGeom prst="rect">
            <a:avLst/>
          </a:prstGeom>
        </p:spPr>
        <p:txBody>
          <a:bodyPr vert="horz" lIns="91427" tIns="45713" rIns="91427" bIns="4571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9" y="9428250"/>
            <a:ext cx="2946400" cy="496809"/>
          </a:xfrm>
          <a:prstGeom prst="rect">
            <a:avLst/>
          </a:prstGeom>
        </p:spPr>
        <p:txBody>
          <a:bodyPr vert="horz" lIns="91427" tIns="45713" rIns="91427" bIns="45713" rtlCol="0" anchor="b"/>
          <a:lstStyle>
            <a:lvl1pPr algn="r">
              <a:defRPr sz="1200"/>
            </a:lvl1pPr>
          </a:lstStyle>
          <a:p>
            <a:pPr>
              <a:defRPr/>
            </a:pPr>
            <a:fld id="{0B1F8F3F-5624-42B9-966D-87506A92773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3159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8"/>
            <a:ext cx="2946400" cy="49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9" y="8"/>
            <a:ext cx="2946400" cy="49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42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09613" y="744538"/>
            <a:ext cx="537845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1" y="4715719"/>
            <a:ext cx="5438775" cy="4466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250"/>
            <a:ext cx="2946400" cy="49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9" y="9428250"/>
            <a:ext cx="2946400" cy="496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CF46E56-E235-4C96-8C77-4D392B50D2D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9212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19D44-73D3-1A46-02A4-75E2BFA53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5589A2-A3B0-590D-C80D-A6FE998D5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E19266-E920-BC1C-3151-87BADF386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C4FA43-16C6-DD68-1C66-A8A9062474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02081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4C1E9-6C0C-8EB1-DC0C-50C372843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12A36A-38F6-2C8D-6317-8B85A7A90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134464-41F9-B9CC-14E7-BFBC18E78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4B3A2F-15FC-73E5-6F90-565BBA4518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5117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29BD7-ABE2-3667-BEB9-0E121B16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DF3C9B-EB0E-5500-3311-8D7699A08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0E8F2F-299A-7EBD-5294-92727D9E8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2A4C6F-81CD-296E-4462-267BAABC8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92215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48840-5DFC-46C5-AD3D-C448AD96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93C9B2-207B-2163-51C2-CFCE72170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2B0EB0-D24E-060A-E5C9-821B18101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F16A26-7FE1-18F4-0838-0B185EB83B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56234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7987D-CC4D-8DC6-E262-B166748EB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A746BA-6FD5-0530-11D1-EC16CF4DD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FB1CDE-1C77-8324-1682-ECD8A44DA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EAA1E8-A49F-502A-54B2-4987A50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518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30263-058E-AAD6-B671-9BF11CC4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0D81E2-0DF4-CA27-3BF9-769E0F156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A9E67F-088C-FCD5-B7CA-41C12A9DF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8C2912-3949-6664-5A9A-BC7A2C434C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90029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C8C9E-B162-FDC3-6156-5BF25AD86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27A700-2F56-6923-A7DE-176EC3378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CB43EC-A68C-ADCA-FC62-0A705C9D1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85DD60-2129-1E6D-E14D-B0C7CB9B9D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73947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9DB48-0092-D29F-A20C-79C37A268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CF7EF0-1626-07EF-8153-67B97392F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AF0314-9368-53AD-CC72-87413C342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9F26F0-4B4A-07C9-EC21-0493ED718A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39479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756E6-6C4C-FFF4-CC48-CB2A099DD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B143F0-0A41-AB16-8FE3-D2A7DE1AA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C222F5-DCA5-9B5A-5D66-C2C861446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824C91-626A-B1E4-A343-EB66A5FE87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44376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06263-F64A-0BE4-47B8-B5FFA31B5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59DE43-6F4D-A088-6B78-468895F5C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EAE06D-587B-28E0-D63C-375455209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EDF841-ABA8-C48C-B090-E89CD124C8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828034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9A85C-D2D9-7663-5B45-9AA17A23C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90A48B-269C-7379-6193-A01775E83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9058CB-0498-F042-7343-8E578A286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153427-CD20-EF55-E0F7-9903DDB5D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383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6AAB1-C72B-E2FE-B3B8-E4BEE2DCE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247246-5723-1A87-C4B5-773B4B2BF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C9F83C-1E6D-8989-7E1E-14625C8F1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FD4E94-E855-5C1D-67C9-8548A38933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62843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8E9E0-E00C-9D14-7231-3CF31BC84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7A8038-C584-FF8A-73C3-D6F4C727C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1BC548-C643-5C58-0CA8-A7C4815DF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F1C3BC-D966-EB61-B74D-BC58E5AB2A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40329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C2FF3-2A93-4C25-BB03-B3D5AF524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F97F24-B6DC-F818-FB7B-A8D3774E51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964159-2BAE-DF01-B376-563A0602A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5C0F23-EC08-E34A-977C-75FAC2D0FA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969850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677DC-588B-5DC5-5064-2DEB71C4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C48EDA-8CF3-C4A9-16F6-CDC48B19C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115FE9-740A-159F-62D2-DC3CE2FC6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6D9C3A-73E7-4F60-0175-B0E6389BD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72516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03674-2FF6-50C3-89B8-603107A2A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82D1A1-F6BF-9CB6-0805-9BBFC91C9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BEE22D-16B4-4743-C27B-8F97BDB07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836F15-1601-A22D-13B5-D8C609EEDE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017537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62421-B3F3-2D17-DFFE-F07B7F5D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E76405-F03E-11C2-A174-2F8530BFD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54BEBB-0EFB-E617-BC0A-3D6799B1F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01AD4E-A515-5FA0-A3D4-1E204C1A3E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222336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B6001-E2CD-FAAD-8EFF-0C1B2AA1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E6BDF0-896F-E772-ED0B-B8D6980F7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A9E8F8-14B7-CE6F-1736-583CFC9D6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CAE283-CB43-D5CE-C3D8-148A859472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384457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D4D39-3C3E-DB4F-1550-B8EC38857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BB742F-7A87-FA5F-1830-CB2DA977C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79B743-AD33-BC36-8095-EE592B495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835FA9-D2E2-4D4C-23F3-141CFE8E3A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207968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1B2B5-321E-DD71-B9BD-BB77863B8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FAF236-926A-A582-890C-E6EEE8475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84AE03-2623-570A-F9BD-DEBD0A726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86DDC8-B93D-180B-E910-2436ED7614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68035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34E57-94A6-F1C2-0A6C-5C364AE6B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B73A79-C05E-01E7-2253-61DABB2C3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A1E84C-9D0C-94F9-4343-D2DC23199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5E8DBF-C52F-D2B8-113B-79670DBC2F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864560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BFC83-8445-8A64-CD75-0D969081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CF35CA-045F-4C5C-E48B-0BB823EED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EC4FAB-40B4-C5EE-D93C-435BECB02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73D832-52F4-9F6A-D1EE-7397C6E239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073905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205DA-EC57-839C-E8DE-4F33012B2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1971EE-C808-C8AE-961D-0A3B506C4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ADEBAB-C1D8-888B-A8CF-ECB79DDFD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E75726-D126-D021-C9B5-3DB2C20931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125830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205DA-EC57-839C-E8DE-4F33012B2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1971EE-C808-C8AE-961D-0A3B506C4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ADEBAB-C1D8-888B-A8CF-ECB79DDFD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E75726-D126-D021-C9B5-3DB2C20931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87195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205DA-EC57-839C-E8DE-4F33012B2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1971EE-C808-C8AE-961D-0A3B506C4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ADEBAB-C1D8-888B-A8CF-ECB79DDFD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E75726-D126-D021-C9B5-3DB2C20931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28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7343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205DA-EC57-839C-E8DE-4F33012B2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1971EE-C808-C8AE-961D-0A3B506C4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09613" y="744538"/>
            <a:ext cx="5378450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ADEBAB-C1D8-888B-A8CF-ECB79DDFD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E75726-D126-D021-C9B5-3DB2C20931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F46E56-E235-4C96-8C77-4D392B50D2D3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31442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510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6"/>
            <a:ext cx="2311400" cy="365125"/>
          </a:xfrm>
          <a:prstGeom prst="rect">
            <a:avLst/>
          </a:prstGeom>
        </p:spPr>
        <p:txBody>
          <a:bodyPr/>
          <a:lstStyle/>
          <a:p>
            <a:fld id="{FB23DBA9-9F3D-47CA-9D7C-5F3A446E6F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830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6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6"/>
            <a:ext cx="2311400" cy="365125"/>
          </a:xfrm>
          <a:prstGeom prst="rect">
            <a:avLst/>
          </a:prstGeom>
        </p:spPr>
        <p:txBody>
          <a:bodyPr/>
          <a:lstStyle/>
          <a:p>
            <a:fld id="{FB23DBA9-9F3D-47CA-9D7C-5F3A446E6F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246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6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1" y="1600206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6"/>
            <a:ext cx="2311400" cy="365125"/>
          </a:xfrm>
          <a:prstGeom prst="rect">
            <a:avLst/>
          </a:prstGeom>
        </p:spPr>
        <p:txBody>
          <a:bodyPr/>
          <a:lstStyle/>
          <a:p>
            <a:fld id="{FB23DBA9-9F3D-47CA-9D7C-5F3A446E6F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567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7099300" y="6356356"/>
            <a:ext cx="2311400" cy="365125"/>
          </a:xfrm>
          <a:prstGeom prst="rect">
            <a:avLst/>
          </a:prstGeom>
        </p:spPr>
        <p:txBody>
          <a:bodyPr/>
          <a:lstStyle/>
          <a:p>
            <a:fld id="{FB23DBA9-9F3D-47CA-9D7C-5F3A446E6F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947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099300" y="6356356"/>
            <a:ext cx="2311400" cy="365125"/>
          </a:xfrm>
          <a:prstGeom prst="rect">
            <a:avLst/>
          </a:prstGeom>
        </p:spPr>
        <p:txBody>
          <a:bodyPr/>
          <a:lstStyle/>
          <a:p>
            <a:fld id="{FB23DBA9-9F3D-47CA-9D7C-5F3A446E6F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4018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356356"/>
            <a:ext cx="2311400" cy="365125"/>
          </a:xfrm>
          <a:prstGeom prst="rect">
            <a:avLst/>
          </a:prstGeom>
        </p:spPr>
        <p:txBody>
          <a:bodyPr/>
          <a:lstStyle/>
          <a:p>
            <a:fld id="{FB23DBA9-9F3D-47CA-9D7C-5F3A446E6F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344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1" y="273056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1" y="1435103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6"/>
            <a:ext cx="2311400" cy="365125"/>
          </a:xfrm>
          <a:prstGeom prst="rect">
            <a:avLst/>
          </a:prstGeom>
        </p:spPr>
        <p:txBody>
          <a:bodyPr/>
          <a:lstStyle/>
          <a:p>
            <a:fld id="{FB23DBA9-9F3D-47CA-9D7C-5F3A446E6F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85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0" y="6356356"/>
            <a:ext cx="2311400" cy="365125"/>
          </a:xfrm>
          <a:prstGeom prst="rect">
            <a:avLst/>
          </a:prstGeom>
        </p:spPr>
        <p:txBody>
          <a:bodyPr/>
          <a:lstStyle/>
          <a:p>
            <a:fld id="{FB23DBA9-9F3D-47CA-9D7C-5F3A446E6F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506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6"/>
            <a:ext cx="2311400" cy="365125"/>
          </a:xfrm>
          <a:prstGeom prst="rect">
            <a:avLst/>
          </a:prstGeom>
        </p:spPr>
        <p:txBody>
          <a:bodyPr/>
          <a:lstStyle/>
          <a:p>
            <a:fld id="{FB23DBA9-9F3D-47CA-9D7C-5F3A446E6F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398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44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1" y="274644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56"/>
            <a:ext cx="2311400" cy="365125"/>
          </a:xfrm>
          <a:prstGeom prst="rect">
            <a:avLst/>
          </a:prstGeom>
        </p:spPr>
        <p:txBody>
          <a:bodyPr/>
          <a:lstStyle/>
          <a:p>
            <a:fld id="{FB23DBA9-9F3D-47CA-9D7C-5F3A446E6F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642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3B5C-1215-40DE-AE64-AD361FC995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AutoShape 231"/>
          <p:cNvSpPr>
            <a:spLocks noChangeArrowheads="1"/>
          </p:cNvSpPr>
          <p:nvPr userDrawn="1"/>
        </p:nvSpPr>
        <p:spPr bwMode="gray">
          <a:xfrm>
            <a:off x="3708403" y="1412875"/>
            <a:ext cx="1870075" cy="5270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4B1EC"/>
              </a:gs>
              <a:gs pos="100000">
                <a:srgbClr val="44526D"/>
              </a:gs>
            </a:gsLst>
            <a:lin ang="5400000" scaled="1"/>
          </a:gradFill>
          <a:ln w="38100" algn="ctr">
            <a:solidFill>
              <a:srgbClr val="FFFFFF"/>
            </a:solidFill>
            <a:round/>
            <a:headEnd/>
            <a:tailEnd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/>
          <a:lstStyle/>
          <a:p>
            <a:pPr eaLnBrk="0" hangingPunct="0"/>
            <a:r>
              <a:rPr lang="ko-KR" altLang="en-US" sz="2000" b="1">
                <a:solidFill>
                  <a:schemeClr val="bg1"/>
                </a:solidFill>
                <a:latin typeface="굴림" pitchFamily="50" charset="-127"/>
              </a:rPr>
              <a:t>회사정보</a:t>
            </a:r>
          </a:p>
        </p:txBody>
      </p:sp>
    </p:spTree>
    <p:extLst>
      <p:ext uri="{BB962C8B-B14F-4D97-AF65-F5344CB8AC3E}">
        <p14:creationId xmlns:p14="http://schemas.microsoft.com/office/powerpoint/2010/main" val="3477042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3B5C-1215-40DE-AE64-AD361FC99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1882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6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3B5C-1215-40DE-AE64-AD361FC99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931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6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1" y="1600206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3B5C-1215-40DE-AE64-AD361FC99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8938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3B5C-1215-40DE-AE64-AD361FC99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2815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3B5C-1215-40DE-AE64-AD361FC99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712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9906000" cy="512676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CA50DD2-0ED9-3DFE-54D5-992DC7E0B3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59" b="97059" l="780" r="98596">
                        <a14:foregroundMark x1="5772" y1="30882" x2="6084" y2="33088"/>
                        <a14:foregroundMark x1="5928" y1="31618" x2="7488" y2="39706"/>
                        <a14:foregroundMark x1="11232" y1="44853" x2="12949" y2="53676"/>
                        <a14:foregroundMark x1="7488" y1="64706" x2="2340" y2="62500"/>
                        <a14:foregroundMark x1="20437" y1="28676" x2="18565" y2="52941"/>
                        <a14:foregroundMark x1="32917" y1="24265" x2="32605" y2="31618"/>
                        <a14:foregroundMark x1="37910" y1="44853" x2="37129" y2="58088"/>
                        <a14:foregroundMark x1="31045" y1="65441" x2="33541" y2="64706"/>
                        <a14:foregroundMark x1="45086" y1="30882" x2="44150" y2="46324"/>
                        <a14:foregroundMark x1="73947" y1="24265" x2="75351" y2="18382"/>
                        <a14:foregroundMark x1="87988" y1="23529" x2="86427" y2="44853"/>
                        <a14:foregroundMark x1="26209" y1="41912" x2="24493" y2="5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60" y="6540590"/>
            <a:ext cx="1404156" cy="297917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94A5D75-871D-4F15-A671-85075D326F1B}"/>
              </a:ext>
            </a:extLst>
          </p:cNvPr>
          <p:cNvCxnSpPr/>
          <p:nvPr userDrawn="1"/>
        </p:nvCxnSpPr>
        <p:spPr>
          <a:xfrm>
            <a:off x="-7932" y="6468576"/>
            <a:ext cx="9913932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D42F976-EE8D-4FBB-A394-19FDDD227E35}"/>
              </a:ext>
            </a:extLst>
          </p:cNvPr>
          <p:cNvSpPr/>
          <p:nvPr userDrawn="1"/>
        </p:nvSpPr>
        <p:spPr>
          <a:xfrm>
            <a:off x="272480" y="872716"/>
            <a:ext cx="9361040" cy="5328592"/>
          </a:xfrm>
          <a:prstGeom prst="roundRect">
            <a:avLst>
              <a:gd name="adj" fmla="val 2611"/>
            </a:avLst>
          </a:prstGeom>
          <a:noFill/>
          <a:ln>
            <a:solidFill>
              <a:srgbClr val="CCE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404077B-CB80-4598-8742-29DD05F9C39E}"/>
              </a:ext>
            </a:extLst>
          </p:cNvPr>
          <p:cNvSpPr/>
          <p:nvPr userDrawn="1"/>
        </p:nvSpPr>
        <p:spPr>
          <a:xfrm>
            <a:off x="392356" y="692696"/>
            <a:ext cx="4416628" cy="3600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5E1FBA6-36CD-4E2F-B158-4ED3EEE4649D}"/>
              </a:ext>
            </a:extLst>
          </p:cNvPr>
          <p:cNvGrpSpPr/>
          <p:nvPr userDrawn="1"/>
        </p:nvGrpSpPr>
        <p:grpSpPr>
          <a:xfrm rot="16200000">
            <a:off x="531737" y="653763"/>
            <a:ext cx="276999" cy="428628"/>
            <a:chOff x="430875" y="1334528"/>
            <a:chExt cx="1023140" cy="1161535"/>
          </a:xfrm>
        </p:grpSpPr>
        <p:sp>
          <p:nvSpPr>
            <p:cNvPr id="10" name="화살표: 오각형 11">
              <a:extLst>
                <a:ext uri="{FF2B5EF4-FFF2-40B4-BE49-F238E27FC236}">
                  <a16:creationId xmlns:a16="http://schemas.microsoft.com/office/drawing/2014/main" id="{12D767DC-A3CA-422A-B8CC-06DE8435ABF4}"/>
                </a:ext>
              </a:extLst>
            </p:cNvPr>
            <p:cNvSpPr/>
            <p:nvPr/>
          </p:nvSpPr>
          <p:spPr>
            <a:xfrm rot="5400000">
              <a:off x="361677" y="1403726"/>
              <a:ext cx="1161535" cy="1023140"/>
            </a:xfrm>
            <a:prstGeom prst="homePlate">
              <a:avLst>
                <a:gd name="adj" fmla="val 35231"/>
              </a:avLst>
            </a:prstGeom>
            <a:solidFill>
              <a:srgbClr val="1970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1" name="자유형: 도형 12">
              <a:extLst>
                <a:ext uri="{FF2B5EF4-FFF2-40B4-BE49-F238E27FC236}">
                  <a16:creationId xmlns:a16="http://schemas.microsoft.com/office/drawing/2014/main" id="{7A11CA3F-91D9-491B-BE7D-B22297B6AF3B}"/>
                </a:ext>
              </a:extLst>
            </p:cNvPr>
            <p:cNvSpPr/>
            <p:nvPr/>
          </p:nvSpPr>
          <p:spPr>
            <a:xfrm rot="5400000">
              <a:off x="544782" y="1220624"/>
              <a:ext cx="795325" cy="1023140"/>
            </a:xfrm>
            <a:custGeom>
              <a:avLst/>
              <a:gdLst>
                <a:gd name="connsiteX0" fmla="*/ 0 w 795325"/>
                <a:gd name="connsiteY0" fmla="*/ 1023140 h 1023140"/>
                <a:gd name="connsiteX1" fmla="*/ 0 w 795325"/>
                <a:gd name="connsiteY1" fmla="*/ 0 h 1023140"/>
                <a:gd name="connsiteX2" fmla="*/ 114624 w 795325"/>
                <a:gd name="connsiteY2" fmla="*/ 0 h 1023140"/>
                <a:gd name="connsiteX3" fmla="*/ 795325 w 795325"/>
                <a:gd name="connsiteY3" fmla="*/ 1023140 h 102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5325" h="1023140">
                  <a:moveTo>
                    <a:pt x="0" y="1023140"/>
                  </a:moveTo>
                  <a:lnTo>
                    <a:pt x="0" y="0"/>
                  </a:lnTo>
                  <a:lnTo>
                    <a:pt x="114624" y="0"/>
                  </a:lnTo>
                  <a:lnTo>
                    <a:pt x="795325" y="102314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B4592">
                    <a:alpha val="0"/>
                  </a:srgbClr>
                </a:gs>
                <a:gs pos="100000">
                  <a:srgbClr val="102F69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21106642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1" y="273056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1" y="1435103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3B5C-1215-40DE-AE64-AD361FC99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5167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3B5C-1215-40DE-AE64-AD361FC99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6473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3B5C-1215-40DE-AE64-AD361FC99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0920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44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1" y="274644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3B5C-1215-40DE-AE64-AD361FC99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108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9D0A8036-49A3-4FD7-CC6A-B3929BFB0214}"/>
              </a:ext>
            </a:extLst>
          </p:cNvPr>
          <p:cNvGrpSpPr/>
          <p:nvPr userDrawn="1"/>
        </p:nvGrpSpPr>
        <p:grpSpPr>
          <a:xfrm>
            <a:off x="2" y="0"/>
            <a:ext cx="9906001" cy="6858000"/>
            <a:chOff x="0" y="0"/>
            <a:chExt cx="12192001" cy="6858000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664F08DC-7F3F-BE63-AE15-5F81E72A8D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0" y="0"/>
              <a:ext cx="12192000" cy="6820452"/>
            </a:xfrm>
            <a:prstGeom prst="rect">
              <a:avLst/>
            </a:prstGeom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00F1237-21D3-7AB6-3902-291EFDC645C4}"/>
                </a:ext>
              </a:extLst>
            </p:cNvPr>
            <p:cNvSpPr/>
            <p:nvPr userDrawn="1"/>
          </p:nvSpPr>
          <p:spPr>
            <a:xfrm>
              <a:off x="1" y="6420"/>
              <a:ext cx="12192000" cy="6851580"/>
            </a:xfrm>
            <a:prstGeom prst="rect">
              <a:avLst/>
            </a:prstGeom>
            <a:solidFill>
              <a:srgbClr val="1F497D">
                <a:lumMod val="50000"/>
                <a:alpha val="71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16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6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73B5C-1215-40DE-AE64-AD361FC995C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124750"/>
            <a:ext cx="82296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431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7" r:id="rId1"/>
    <p:sldLayoutId id="2147484418" r:id="rId2"/>
    <p:sldLayoutId id="2147484419" r:id="rId3"/>
    <p:sldLayoutId id="2147484420" r:id="rId4"/>
    <p:sldLayoutId id="2147484421" r:id="rId5"/>
    <p:sldLayoutId id="2147484422" r:id="rId6"/>
    <p:sldLayoutId id="2147484423" r:id="rId7"/>
    <p:sldLayoutId id="2147484424" r:id="rId8"/>
    <p:sldLayoutId id="2147484425" r:id="rId9"/>
    <p:sldLayoutId id="2147484426" r:id="rId10"/>
    <p:sldLayoutId id="2147484427" r:id="rId11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4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92F95-79B5-843E-305A-3900271DB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76D5E6-763B-2274-6BA7-7946C9B5CD1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0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410725B-1972-A8BB-048E-13EAC84E30B2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BC5BB1-FAEC-CE14-4206-6C55917E57FE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>
              <a:lnSpc>
                <a:spcPts val="1600"/>
              </a:lnSpc>
              <a:buClr>
                <a:srgbClr val="1673B9"/>
              </a:buClr>
            </a:pP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38D5C5-55B6-645A-0E97-75808AF18C9E}"/>
              </a:ext>
            </a:extLst>
          </p:cNvPr>
          <p:cNvSpPr txBox="1"/>
          <p:nvPr/>
        </p:nvSpPr>
        <p:spPr>
          <a:xfrm>
            <a:off x="1077599" y="3212976"/>
            <a:ext cx="387540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녹음</a:t>
            </a:r>
            <a:endParaRPr lang="en-US" altLang="ko-KR" sz="1600" dirty="0">
              <a:solidFill>
                <a:schemeClr val="tx2">
                  <a:lumMod val="50000"/>
                </a:scheme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녹화</a:t>
            </a:r>
            <a:endParaRPr lang="en-US" altLang="ko-KR" sz="1600" dirty="0">
              <a:solidFill>
                <a:schemeClr val="tx2">
                  <a:lumMod val="50000"/>
                </a:scheme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배포자료</a:t>
            </a:r>
            <a:endParaRPr lang="en-US" altLang="ko-KR" sz="1600" dirty="0">
              <a:solidFill>
                <a:schemeClr val="tx2">
                  <a:lumMod val="50000"/>
                </a:scheme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임무 등급</a:t>
            </a:r>
            <a:endParaRPr lang="en-US" altLang="ko-KR" sz="1600" dirty="0">
              <a:solidFill>
                <a:schemeClr val="tx2">
                  <a:lumMod val="50000"/>
                </a:scheme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lang="en-US" altLang="ko-KR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Gram </a:t>
            </a:r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예제 테스트</a:t>
            </a:r>
            <a:r>
              <a:rPr lang="en-US" altLang="ko-KR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(DFADEM)</a:t>
            </a: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운용자단말기 </a:t>
            </a:r>
            <a:r>
              <a:rPr lang="en-US" altLang="ko-KR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</a:t>
            </a:r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신호처리 옵션 선택</a:t>
            </a:r>
            <a:endParaRPr lang="en-US" altLang="ko-KR" sz="1600" dirty="0">
              <a:solidFill>
                <a:schemeClr val="tx2">
                  <a:lumMod val="50000"/>
                </a:scheme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운용자단말기 </a:t>
            </a:r>
            <a:r>
              <a:rPr lang="en-US" altLang="ko-KR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– </a:t>
            </a:r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배포등록 목록화면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3A0541-CE60-6AEA-7EC9-11D02D5956B0}"/>
              </a:ext>
            </a:extLst>
          </p:cNvPr>
          <p:cNvSpPr txBox="1"/>
          <p:nvPr/>
        </p:nvSpPr>
        <p:spPr>
          <a:xfrm>
            <a:off x="632520" y="2166979"/>
            <a:ext cx="8208912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400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플로우 정리 및 질문</a:t>
            </a:r>
            <a:endParaRPr lang="en-US" altLang="ko-KR" sz="2400" kern="0" dirty="0">
              <a:solidFill>
                <a:schemeClr val="tx2">
                  <a:lumMod val="60000"/>
                  <a:lumOff val="40000"/>
                </a:scheme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5998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FFD3E-B7B4-1B5E-C371-727B5007D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5399B6-66A1-9041-FC01-80F66783D2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31328FF-E397-3D54-A080-14F70EDAA0E6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39F874-F56F-CE41-8656-8EF0ADC3741E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녹음 진입점 </a:t>
            </a:r>
            <a:r>
              <a:rPr lang="en-US" altLang="ko-KR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- 1</a:t>
            </a:r>
            <a:endParaRPr lang="ko-KR" altLang="en-US" sz="1600" dirty="0">
              <a:solidFill>
                <a:schemeClr val="tx2">
                  <a:lumMod val="50000"/>
                </a:scheme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AC9425-0AB9-50EE-3739-601899EE50B6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녹음 플로우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7DBD1A-FD81-227F-F360-E46447417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95" y="1203450"/>
            <a:ext cx="8803307" cy="49564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C838554-CFF3-94C8-55DB-B3A03758AFD0}"/>
              </a:ext>
            </a:extLst>
          </p:cNvPr>
          <p:cNvSpPr/>
          <p:nvPr/>
        </p:nvSpPr>
        <p:spPr>
          <a:xfrm>
            <a:off x="812540" y="3104964"/>
            <a:ext cx="614857" cy="3240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청음</a:t>
            </a:r>
          </a:p>
        </p:txBody>
      </p:sp>
    </p:spTree>
    <p:extLst>
      <p:ext uri="{BB962C8B-B14F-4D97-AF65-F5344CB8AC3E}">
        <p14:creationId xmlns:p14="http://schemas.microsoft.com/office/powerpoint/2010/main" val="550278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FC41A-029E-912F-7569-1439E2A23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DD742B-734C-FE1F-6816-A1FBB48EAF0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1B3829F-587C-08A2-F444-6110D7B57F9F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F9C49B-7B6B-03B7-71F0-81F80E7479D7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녹음 진입점 </a:t>
            </a:r>
            <a:r>
              <a:rPr lang="en-US" altLang="ko-KR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- 2</a:t>
            </a:r>
            <a:endParaRPr lang="ko-KR" altLang="en-US" sz="1600" dirty="0">
              <a:solidFill>
                <a:schemeClr val="tx2">
                  <a:lumMod val="50000"/>
                </a:scheme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1D1684-67CA-C950-D91D-DB4AB2E4CEDD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녹음 플로우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7655B5-CF9D-4DE3-D4AA-7F569DF91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12" y="1217334"/>
            <a:ext cx="8620148" cy="483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00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0425A-B124-F854-32F3-211A1B38A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808C86-D9ED-BECC-8EB0-DB7D3F685C7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7CC67DB-8250-7AF6-5627-9E317B749325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EE3683-C84A-D5EA-6054-D4C28A442529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녹음 파일 저장 및 재생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A55A84-3D12-E2AB-C31B-8E1ABCABCEFC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녹음 플로우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0F1112-4488-5FEC-9783-962EBD6AC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177" y="1700808"/>
            <a:ext cx="5411615" cy="25490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9E1EE52-13BB-44D8-94CF-0624B899B64E}"/>
              </a:ext>
            </a:extLst>
          </p:cNvPr>
          <p:cNvSpPr/>
          <p:nvPr/>
        </p:nvSpPr>
        <p:spPr>
          <a:xfrm>
            <a:off x="4772985" y="3969060"/>
            <a:ext cx="468047" cy="32004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957569-83CC-FF50-8048-0FD8C11FB855}"/>
              </a:ext>
            </a:extLst>
          </p:cNvPr>
          <p:cNvSpPr txBox="1"/>
          <p:nvPr/>
        </p:nvSpPr>
        <p:spPr>
          <a:xfrm>
            <a:off x="1100572" y="4652409"/>
            <a:ext cx="3764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UT </a:t>
            </a:r>
            <a:r>
              <a:rPr lang="ko-KR" altLang="en-US" dirty="0"/>
              <a:t>소음 활성화 에 대한 기능 설명 필요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208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7C941-0F58-2F26-836E-138DC3364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DB2E1E-1B92-9036-C67A-F011825920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D5D83A9-DA99-41FD-10E0-204E04C46949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65FF2B-FE64-E234-F705-2A6F1B844A55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오디오 추출 목록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4DB940-0D47-F3D5-0AA1-CBA6CB7A7692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녹음 플로우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404992-02E9-3AE2-FA17-4757478996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143" r="32321"/>
          <a:stretch>
            <a:fillRect/>
          </a:stretch>
        </p:blipFill>
        <p:spPr>
          <a:xfrm>
            <a:off x="812540" y="1217334"/>
            <a:ext cx="972108" cy="13772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F456C2-6E0D-C2FE-41C7-26E0511B2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8664" y="1217334"/>
            <a:ext cx="5158184" cy="37650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4193DF-4B04-BB42-A0CC-56A8B78130A2}"/>
              </a:ext>
            </a:extLst>
          </p:cNvPr>
          <p:cNvSpPr txBox="1"/>
          <p:nvPr/>
        </p:nvSpPr>
        <p:spPr>
          <a:xfrm>
            <a:off x="1235205" y="5296102"/>
            <a:ext cx="1537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검색 기능 추가</a:t>
            </a: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3691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3D53D-D67A-BC34-CA85-EE748AF6B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50312A-8532-D9C0-FBC8-D94411F8A2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430162B-8469-80DD-19D6-4CA789C80EB6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0E4C25-6078-B050-8169-A02F6AC67E39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오디오 대역제한 팝업 열기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EAC13C-62B7-F67E-5042-528E5FB778C9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녹음 플로우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D99BF2-131B-BF23-9E15-B87BC24A4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92" y="1217334"/>
            <a:ext cx="4517715" cy="32976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E9D016-EF52-5FA2-B0B8-8DDF0D145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254" y="2025368"/>
            <a:ext cx="7167770" cy="384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23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68F70-F8D3-AB7A-D2CD-138C370B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008E07-F6D1-2EBA-F42A-291F9E9D1B4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A5EB0B5-2F72-77EA-7CD3-1DE838D525E4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E1CE30-2B1B-A3AC-A250-C254D7824381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오디오 대역제한 편집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CE990-3210-D690-2509-4A088792388D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녹음 플로우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923674-4208-60BD-8949-80CD19B49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25" y="1217334"/>
            <a:ext cx="7771799" cy="41692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EEC148-EC60-5548-8994-64A651BADFD0}"/>
              </a:ext>
            </a:extLst>
          </p:cNvPr>
          <p:cNvSpPr txBox="1"/>
          <p:nvPr/>
        </p:nvSpPr>
        <p:spPr>
          <a:xfrm>
            <a:off x="997625" y="5434715"/>
            <a:ext cx="270939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대역 추가</a:t>
            </a:r>
            <a:r>
              <a:rPr lang="en-US" altLang="ko-KR" dirty="0"/>
              <a:t>/</a:t>
            </a:r>
            <a:r>
              <a:rPr lang="ko-KR" altLang="en-US" dirty="0"/>
              <a:t>삭제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대역 프리셋 저장</a:t>
            </a:r>
            <a:r>
              <a:rPr lang="en-US" altLang="ko-KR" dirty="0"/>
              <a:t>/</a:t>
            </a:r>
            <a:r>
              <a:rPr lang="ko-KR" altLang="en-US" dirty="0"/>
              <a:t>불러오기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신호처리 시작</a:t>
            </a:r>
          </a:p>
        </p:txBody>
      </p:sp>
    </p:spTree>
    <p:extLst>
      <p:ext uri="{BB962C8B-B14F-4D97-AF65-F5344CB8AC3E}">
        <p14:creationId xmlns:p14="http://schemas.microsoft.com/office/powerpoint/2010/main" val="3709908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C0D5A-BDA2-C3A4-079E-1A55E60CF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42B4AD-C3C4-087E-7802-BD3FC8CD43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CE48370-270F-A24E-2196-82B6A5242054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967EBF-0144-E8C7-01F0-C8059FCE61C8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오디오 대역제한 저장 및 반출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54A494-AA86-1EA5-29B0-A0A7FAF32991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녹음 플로우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70E58D-849E-69BA-1160-D32047FF1939}"/>
              </a:ext>
            </a:extLst>
          </p:cNvPr>
          <p:cNvSpPr txBox="1"/>
          <p:nvPr/>
        </p:nvSpPr>
        <p:spPr>
          <a:xfrm>
            <a:off x="1022599" y="5134139"/>
            <a:ext cx="66575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재신호처리 요청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저장 </a:t>
            </a:r>
            <a:r>
              <a:rPr lang="en-US" altLang="ko-KR" dirty="0"/>
              <a:t>: </a:t>
            </a:r>
            <a:r>
              <a:rPr lang="ko-KR" altLang="en-US" dirty="0"/>
              <a:t>대역제한 값 저장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반출 </a:t>
            </a:r>
            <a:r>
              <a:rPr lang="en-US" altLang="ko-KR" dirty="0"/>
              <a:t>: </a:t>
            </a:r>
            <a:r>
              <a:rPr lang="ko-KR" altLang="en-US" dirty="0"/>
              <a:t>배포 폴더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반출 후 </a:t>
            </a:r>
            <a:r>
              <a:rPr lang="en-US" altLang="ko-KR" dirty="0"/>
              <a:t>DB</a:t>
            </a:r>
            <a:r>
              <a:rPr lang="ko-KR" altLang="en-US" dirty="0"/>
              <a:t>에 남아 있는 원음 </a:t>
            </a:r>
            <a:r>
              <a:rPr lang="en-US" altLang="ko-KR" dirty="0"/>
              <a:t>&amp; </a:t>
            </a:r>
            <a:r>
              <a:rPr lang="ko-KR" altLang="en-US" dirty="0"/>
              <a:t>대역제한 적용 원음을 유지 또는 삭제 여부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CBCACD-8132-CD66-323D-9F603159C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584" y="1160748"/>
            <a:ext cx="7181717" cy="385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089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849E1-EBA6-5B9A-9F97-5695CF51B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39DEE2-9C51-DA80-A807-BD112C55ED3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875912E-7B1D-4E71-EF42-6C09CB40018F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ED1C23-6640-F4C9-74E8-CA75D868C462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보조정보 및 연결 관련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B75FA8-6C4D-BF3D-A102-906C8CA34AD8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녹음 플로우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DAC457-2F49-E90B-A5FB-A732AC022DFD}"/>
              </a:ext>
            </a:extLst>
          </p:cNvPr>
          <p:cNvSpPr txBox="1"/>
          <p:nvPr/>
        </p:nvSpPr>
        <p:spPr>
          <a:xfrm>
            <a:off x="556727" y="5063075"/>
            <a:ext cx="807144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현재 개발 구조는 원음</a:t>
            </a:r>
            <a:r>
              <a:rPr lang="en-US" altLang="ko-KR" dirty="0"/>
              <a:t>/</a:t>
            </a:r>
            <a:r>
              <a:rPr lang="ko-KR" altLang="en-US" dirty="0"/>
              <a:t>스니펫 원음</a:t>
            </a:r>
            <a:r>
              <a:rPr lang="en-US" altLang="ko-KR" dirty="0"/>
              <a:t>, LOFAR Gram</a:t>
            </a:r>
            <a:r>
              <a:rPr lang="ko-KR" altLang="en-US" dirty="0"/>
              <a:t>만 </a:t>
            </a:r>
            <a:r>
              <a:rPr lang="ko-KR" altLang="en-US" dirty="0">
                <a:solidFill>
                  <a:srgbClr val="FF0000"/>
                </a:solidFill>
              </a:rPr>
              <a:t>복사</a:t>
            </a:r>
            <a:r>
              <a:rPr lang="ko-KR" altLang="en-US" dirty="0"/>
              <a:t>해오는 형태로 되어 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보조정보는 임무와 연결되어 있어서</a:t>
            </a:r>
            <a:r>
              <a:rPr lang="en-US" altLang="ko-KR" dirty="0"/>
              <a:t> </a:t>
            </a:r>
            <a:r>
              <a:rPr lang="ko-KR" altLang="en-US" dirty="0"/>
              <a:t>보조정보 팝업창을 열려면</a:t>
            </a:r>
            <a:r>
              <a:rPr lang="en-US" altLang="ko-KR" dirty="0"/>
              <a:t>, </a:t>
            </a:r>
            <a:r>
              <a:rPr lang="ko-KR" altLang="en-US" dirty="0"/>
              <a:t>데이터를 모두 복사해야 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임무연결이 더 수월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임무가 </a:t>
            </a:r>
            <a:r>
              <a:rPr lang="ko-KR" altLang="en-US" dirty="0">
                <a:solidFill>
                  <a:srgbClr val="FF0000"/>
                </a:solidFill>
              </a:rPr>
              <a:t>삭제</a:t>
            </a:r>
            <a:r>
              <a:rPr lang="ko-KR" altLang="en-US" dirty="0"/>
              <a:t>될 정도면</a:t>
            </a:r>
            <a:r>
              <a:rPr lang="en-US" altLang="ko-KR" dirty="0"/>
              <a:t>,</a:t>
            </a:r>
            <a:r>
              <a:rPr lang="ko-KR" altLang="en-US" dirty="0"/>
              <a:t> 녹음 배포자료가 남아 있는게 맞는지 다시 한번 생각할 필요가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0EFC56-3C65-8D0E-2C5F-6E421B4B2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12" y="1122313"/>
            <a:ext cx="7167770" cy="384521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6F503C6-32DB-BFE8-AD3D-154CF7064D1B}"/>
              </a:ext>
            </a:extLst>
          </p:cNvPr>
          <p:cNvSpPr/>
          <p:nvPr/>
        </p:nvSpPr>
        <p:spPr>
          <a:xfrm>
            <a:off x="6609184" y="1229086"/>
            <a:ext cx="576064" cy="21969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929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12F43-8FA9-8962-1C6A-4E6D3E6C2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3B82CB-5377-4DD4-DB79-7BAF4830D1F5}"/>
              </a:ext>
            </a:extLst>
          </p:cNvPr>
          <p:cNvCxnSpPr>
            <a:cxnSpLocks/>
          </p:cNvCxnSpPr>
          <p:nvPr/>
        </p:nvCxnSpPr>
        <p:spPr>
          <a:xfrm flipH="1">
            <a:off x="5608085" y="1785388"/>
            <a:ext cx="11980" cy="393832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CFCE29D-6AA7-9E68-1364-DF6B92217C9C}"/>
              </a:ext>
            </a:extLst>
          </p:cNvPr>
          <p:cNvSpPr/>
          <p:nvPr/>
        </p:nvSpPr>
        <p:spPr>
          <a:xfrm>
            <a:off x="746820" y="1396811"/>
            <a:ext cx="1267385" cy="399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38" dirty="0"/>
              <a:t>분석관단말기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D4988F-E540-7C86-E341-627B4BAC6E28}"/>
              </a:ext>
            </a:extLst>
          </p:cNvPr>
          <p:cNvSpPr/>
          <p:nvPr/>
        </p:nvSpPr>
        <p:spPr>
          <a:xfrm>
            <a:off x="7185718" y="1396811"/>
            <a:ext cx="1423989" cy="399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38" dirty="0"/>
              <a:t>반출자료폴더</a:t>
            </a:r>
            <a:r>
              <a:rPr lang="en-US" altLang="ko-KR" sz="1138" dirty="0"/>
              <a:t>(NAS)</a:t>
            </a:r>
            <a:endParaRPr lang="ko-KR" altLang="en-US" sz="1138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DE350F3D-128B-CCD7-B2AD-BC41973C4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39603"/>
            <a:ext cx="8543925" cy="316028"/>
          </a:xfrm>
        </p:spPr>
        <p:txBody>
          <a:bodyPr>
            <a:noAutofit/>
          </a:bodyPr>
          <a:lstStyle/>
          <a:p>
            <a:r>
              <a:rPr lang="ko-KR" altLang="en-US" sz="2275" dirty="0"/>
              <a:t>녹음 추출</a:t>
            </a:r>
            <a:r>
              <a:rPr lang="en-US" altLang="ko-KR" sz="2275" dirty="0"/>
              <a:t> </a:t>
            </a:r>
            <a:r>
              <a:rPr lang="ko-KR" altLang="en-US" sz="2275" dirty="0"/>
              <a:t>플로우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8F4346-0666-114B-C042-5569E8122DC0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380513" y="1796381"/>
            <a:ext cx="0" cy="392733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8FB7B9-FD74-D23E-1252-8B5B7F4A18B8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885767" y="1796381"/>
            <a:ext cx="11946" cy="392733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BB1BA67-F042-C1D3-ABF8-B1CE1BE0ACE8}"/>
              </a:ext>
            </a:extLst>
          </p:cNvPr>
          <p:cNvSpPr txBox="1"/>
          <p:nvPr/>
        </p:nvSpPr>
        <p:spPr>
          <a:xfrm>
            <a:off x="1452450" y="2263461"/>
            <a:ext cx="3030504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대역제한 신호처리 요청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E6BCA7-F893-5F3F-1687-7D09EEF07BD7}"/>
              </a:ext>
            </a:extLst>
          </p:cNvPr>
          <p:cNvSpPr/>
          <p:nvPr/>
        </p:nvSpPr>
        <p:spPr>
          <a:xfrm>
            <a:off x="2637201" y="1396811"/>
            <a:ext cx="1267385" cy="399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38" dirty="0"/>
              <a:t>분석서버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8A6944-75B5-AAA3-0037-8C79D9542EEA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3258947" y="1796381"/>
            <a:ext cx="11947" cy="392733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2319D38-32F2-EB62-30DA-3EFF0C873492}"/>
              </a:ext>
            </a:extLst>
          </p:cNvPr>
          <p:cNvCxnSpPr>
            <a:cxnSpLocks/>
          </p:cNvCxnSpPr>
          <p:nvPr/>
        </p:nvCxnSpPr>
        <p:spPr>
          <a:xfrm>
            <a:off x="3270893" y="2677919"/>
            <a:ext cx="2338475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043F214-5BFE-31B7-093E-87663A2B6D20}"/>
              </a:ext>
            </a:extLst>
          </p:cNvPr>
          <p:cNvCxnSpPr>
            <a:cxnSpLocks/>
          </p:cNvCxnSpPr>
          <p:nvPr/>
        </p:nvCxnSpPr>
        <p:spPr>
          <a:xfrm>
            <a:off x="1408883" y="4881133"/>
            <a:ext cx="6478133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3D2ACF8-6FA6-5538-74DC-EC832A783DBE}"/>
              </a:ext>
            </a:extLst>
          </p:cNvPr>
          <p:cNvSpPr txBox="1"/>
          <p:nvPr/>
        </p:nvSpPr>
        <p:spPr>
          <a:xfrm>
            <a:off x="3437748" y="4864845"/>
            <a:ext cx="3030504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반출자료폴더로 파일 생성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5605176-6FB7-36FD-4E36-85231FD23D1D}"/>
              </a:ext>
            </a:extLst>
          </p:cNvPr>
          <p:cNvCxnSpPr>
            <a:cxnSpLocks/>
          </p:cNvCxnSpPr>
          <p:nvPr/>
        </p:nvCxnSpPr>
        <p:spPr>
          <a:xfrm>
            <a:off x="1400231" y="5132291"/>
            <a:ext cx="4219834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3AC9FC6-AA38-102C-880B-2758B3FC8F24}"/>
              </a:ext>
            </a:extLst>
          </p:cNvPr>
          <p:cNvSpPr txBox="1"/>
          <p:nvPr/>
        </p:nvSpPr>
        <p:spPr>
          <a:xfrm>
            <a:off x="1439791" y="5532646"/>
            <a:ext cx="3287259" cy="611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추출 완료 </a:t>
            </a:r>
            <a:r>
              <a:rPr lang="ko-KR" altLang="en-US" sz="1100" dirty="0"/>
              <a:t>패킷 전송</a:t>
            </a:r>
            <a:r>
              <a:rPr lang="en-US" altLang="ko-KR" sz="1100" dirty="0"/>
              <a:t>(</a:t>
            </a:r>
            <a:r>
              <a:rPr lang="pt-BR" altLang="ko-KR" sz="1100" dirty="0"/>
              <a:t>MSG_AIAS_EXPORT_DATA_REQ)</a:t>
            </a:r>
            <a:endParaRPr lang="ko-KR" altLang="en-US" sz="1100" dirty="0"/>
          </a:p>
          <a:p>
            <a:endParaRPr lang="ko-KR" altLang="en-US" sz="1138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35A53C-93AB-383F-2EAE-1FF17CB3E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627" y="12232"/>
            <a:ext cx="2823373" cy="131398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628B762-39FE-F48F-DA1A-7099D1F017C7}"/>
              </a:ext>
            </a:extLst>
          </p:cNvPr>
          <p:cNvGrpSpPr/>
          <p:nvPr/>
        </p:nvGrpSpPr>
        <p:grpSpPr>
          <a:xfrm>
            <a:off x="3274306" y="3229561"/>
            <a:ext cx="208956" cy="628345"/>
            <a:chOff x="1709738" y="4567238"/>
            <a:chExt cx="257176" cy="638175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629D84C-AFE4-839B-57E2-F591DA0B5046}"/>
                </a:ext>
              </a:extLst>
            </p:cNvPr>
            <p:cNvCxnSpPr/>
            <p:nvPr/>
          </p:nvCxnSpPr>
          <p:spPr>
            <a:xfrm>
              <a:off x="1709738" y="4567238"/>
              <a:ext cx="257175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E57915D7-EAFE-1305-A54F-0800E34326A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19239" y="4757738"/>
              <a:ext cx="638175" cy="257175"/>
            </a:xfrm>
            <a:prstGeom prst="bentConnector3">
              <a:avLst>
                <a:gd name="adj1" fmla="val 100000"/>
              </a:avLst>
            </a:prstGeom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735A472-1490-4514-B44A-5B91B5EBC4F9}"/>
              </a:ext>
            </a:extLst>
          </p:cNvPr>
          <p:cNvSpPr txBox="1"/>
          <p:nvPr/>
        </p:nvSpPr>
        <p:spPr>
          <a:xfrm>
            <a:off x="3406990" y="3478777"/>
            <a:ext cx="3030504" cy="442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대역제한 신호처리</a:t>
            </a:r>
            <a:r>
              <a:rPr lang="en-US" altLang="ko-KR" sz="1138" dirty="0"/>
              <a:t/>
            </a:r>
            <a:br>
              <a:rPr lang="en-US" altLang="ko-KR" sz="1138" dirty="0"/>
            </a:br>
            <a:endParaRPr lang="ko-KR" altLang="en-US" sz="1138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611855-0B7B-321C-A983-EE95EC2045DC}"/>
              </a:ext>
            </a:extLst>
          </p:cNvPr>
          <p:cNvCxnSpPr>
            <a:cxnSpLocks/>
          </p:cNvCxnSpPr>
          <p:nvPr/>
        </p:nvCxnSpPr>
        <p:spPr>
          <a:xfrm>
            <a:off x="3279916" y="4056407"/>
            <a:ext cx="2329452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02108B8-15F1-7FCB-008C-B31597E2B443}"/>
              </a:ext>
            </a:extLst>
          </p:cNvPr>
          <p:cNvCxnSpPr>
            <a:cxnSpLocks/>
          </p:cNvCxnSpPr>
          <p:nvPr/>
        </p:nvCxnSpPr>
        <p:spPr>
          <a:xfrm flipH="1">
            <a:off x="1422752" y="3275995"/>
            <a:ext cx="1837444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D3E2D75-AFA4-42EC-C5B6-78D8FD130BAF}"/>
              </a:ext>
            </a:extLst>
          </p:cNvPr>
          <p:cNvSpPr txBox="1"/>
          <p:nvPr/>
        </p:nvSpPr>
        <p:spPr>
          <a:xfrm>
            <a:off x="1740627" y="3349301"/>
            <a:ext cx="3030504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진행률 전송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8FC5A22-080C-3E63-43A0-9D115C556F01}"/>
              </a:ext>
            </a:extLst>
          </p:cNvPr>
          <p:cNvCxnSpPr>
            <a:cxnSpLocks/>
          </p:cNvCxnSpPr>
          <p:nvPr/>
        </p:nvCxnSpPr>
        <p:spPr>
          <a:xfrm flipH="1">
            <a:off x="1408883" y="4224030"/>
            <a:ext cx="1837444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24FF916-768D-BFDE-7D7D-49C6118BCF1D}"/>
              </a:ext>
            </a:extLst>
          </p:cNvPr>
          <p:cNvSpPr txBox="1"/>
          <p:nvPr/>
        </p:nvSpPr>
        <p:spPr>
          <a:xfrm>
            <a:off x="1841894" y="4246912"/>
            <a:ext cx="3030504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완료 메세지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24FBD6-8948-83CE-CC9E-153977853188}"/>
              </a:ext>
            </a:extLst>
          </p:cNvPr>
          <p:cNvSpPr txBox="1"/>
          <p:nvPr/>
        </p:nvSpPr>
        <p:spPr>
          <a:xfrm>
            <a:off x="131541" y="4512754"/>
            <a:ext cx="3030504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반출 클릭</a:t>
            </a:r>
            <a:endParaRPr lang="en-US" altLang="ko-KR" sz="1138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BE55E3-1706-C3D8-6EB9-F83AE09BEFA2}"/>
              </a:ext>
            </a:extLst>
          </p:cNvPr>
          <p:cNvSpPr txBox="1"/>
          <p:nvPr/>
        </p:nvSpPr>
        <p:spPr>
          <a:xfrm>
            <a:off x="56043" y="1859537"/>
            <a:ext cx="3030504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대역 설정 및 신호처리 클릭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1B565C0-97F8-D54B-F254-0C80D745D4BE}"/>
              </a:ext>
            </a:extLst>
          </p:cNvPr>
          <p:cNvCxnSpPr>
            <a:cxnSpLocks/>
          </p:cNvCxnSpPr>
          <p:nvPr/>
        </p:nvCxnSpPr>
        <p:spPr>
          <a:xfrm>
            <a:off x="1394621" y="2263461"/>
            <a:ext cx="1879685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2B47392-3FF5-88B7-6FEE-D81822DD8EBF}"/>
              </a:ext>
            </a:extLst>
          </p:cNvPr>
          <p:cNvCxnSpPr>
            <a:cxnSpLocks/>
          </p:cNvCxnSpPr>
          <p:nvPr/>
        </p:nvCxnSpPr>
        <p:spPr>
          <a:xfrm>
            <a:off x="3302437" y="2526297"/>
            <a:ext cx="2317628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B0CBA46-BA78-C8A2-8778-9E565849CD3A}"/>
              </a:ext>
            </a:extLst>
          </p:cNvPr>
          <p:cNvSpPr/>
          <p:nvPr/>
        </p:nvSpPr>
        <p:spPr>
          <a:xfrm>
            <a:off x="4965342" y="1390417"/>
            <a:ext cx="1267385" cy="399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38" dirty="0"/>
              <a:t>DB</a:t>
            </a:r>
            <a:endParaRPr lang="ko-KR" altLang="en-US" sz="1138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C0048F5-B478-55ED-0324-EFAD507E5BC8}"/>
              </a:ext>
            </a:extLst>
          </p:cNvPr>
          <p:cNvSpPr txBox="1"/>
          <p:nvPr/>
        </p:nvSpPr>
        <p:spPr>
          <a:xfrm>
            <a:off x="3336935" y="4134499"/>
            <a:ext cx="2176343" cy="442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변환 결과 </a:t>
            </a:r>
            <a:r>
              <a:rPr lang="en-US" altLang="ko-KR" sz="1138" dirty="0"/>
              <a:t>WAV binary </a:t>
            </a:r>
            <a:r>
              <a:rPr lang="ko-KR" altLang="en-US" sz="1138" dirty="0"/>
              <a:t>추가</a:t>
            </a:r>
            <a:r>
              <a:rPr lang="en-US" altLang="ko-KR" sz="1138" dirty="0"/>
              <a:t>, DB</a:t>
            </a:r>
            <a:r>
              <a:rPr lang="ko-KR" altLang="en-US" sz="1138" dirty="0"/>
              <a:t>에 파일정보 위치 갱신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5E2926-B6FE-3728-AD21-EAB4F5CEC9DD}"/>
              </a:ext>
            </a:extLst>
          </p:cNvPr>
          <p:cNvSpPr txBox="1"/>
          <p:nvPr/>
        </p:nvSpPr>
        <p:spPr>
          <a:xfrm>
            <a:off x="3275210" y="2697213"/>
            <a:ext cx="3030504" cy="442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38" dirty="0"/>
              <a:t>DB </a:t>
            </a:r>
            <a:r>
              <a:rPr lang="ko-KR" altLang="en-US" sz="1138" dirty="0"/>
              <a:t>검색 및 </a:t>
            </a:r>
            <a:endParaRPr lang="en-US" altLang="ko-KR" sz="1138" dirty="0"/>
          </a:p>
          <a:p>
            <a:r>
              <a:rPr lang="ko-KR" altLang="en-US" sz="1138" dirty="0"/>
              <a:t>분석서버로 </a:t>
            </a:r>
            <a:r>
              <a:rPr lang="en-US" altLang="ko-KR" sz="1138" dirty="0"/>
              <a:t>WAV </a:t>
            </a:r>
            <a:r>
              <a:rPr lang="ko-KR" altLang="en-US" sz="1138" dirty="0"/>
              <a:t>스트림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3524D9-0CDC-2828-E98E-5386FC2C5A22}"/>
              </a:ext>
            </a:extLst>
          </p:cNvPr>
          <p:cNvSpPr txBox="1"/>
          <p:nvPr/>
        </p:nvSpPr>
        <p:spPr>
          <a:xfrm>
            <a:off x="3378783" y="5155211"/>
            <a:ext cx="3030504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반출 상태 갱신</a:t>
            </a:r>
          </a:p>
        </p:txBody>
      </p:sp>
      <p:grpSp>
        <p:nvGrpSpPr>
          <p:cNvPr id="36" name="Group 14">
            <a:extLst>
              <a:ext uri="{FF2B5EF4-FFF2-40B4-BE49-F238E27FC236}">
                <a16:creationId xmlns:a16="http://schemas.microsoft.com/office/drawing/2014/main" id="{17C84DA9-AE1B-F2E5-EED2-936D0C28920F}"/>
              </a:ext>
            </a:extLst>
          </p:cNvPr>
          <p:cNvGrpSpPr/>
          <p:nvPr/>
        </p:nvGrpSpPr>
        <p:grpSpPr>
          <a:xfrm flipH="1">
            <a:off x="1201049" y="4527377"/>
            <a:ext cx="181009" cy="267446"/>
            <a:chOff x="1709738" y="4567238"/>
            <a:chExt cx="257176" cy="638175"/>
          </a:xfrm>
        </p:grpSpPr>
        <p:cxnSp>
          <p:nvCxnSpPr>
            <p:cNvPr id="37" name="Straight Connector 15">
              <a:extLst>
                <a:ext uri="{FF2B5EF4-FFF2-40B4-BE49-F238E27FC236}">
                  <a16:creationId xmlns:a16="http://schemas.microsoft.com/office/drawing/2014/main" id="{3F4F9165-CA8E-DD1F-37D7-78C00DBC4C63}"/>
                </a:ext>
              </a:extLst>
            </p:cNvPr>
            <p:cNvCxnSpPr/>
            <p:nvPr/>
          </p:nvCxnSpPr>
          <p:spPr>
            <a:xfrm>
              <a:off x="1709738" y="4567238"/>
              <a:ext cx="257175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: Elbow 16">
              <a:extLst>
                <a:ext uri="{FF2B5EF4-FFF2-40B4-BE49-F238E27FC236}">
                  <a16:creationId xmlns:a16="http://schemas.microsoft.com/office/drawing/2014/main" id="{49025B47-8663-7CED-62E6-DA1A47E58D1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19239" y="4757738"/>
              <a:ext cx="638175" cy="257175"/>
            </a:xfrm>
            <a:prstGeom prst="bentConnector3">
              <a:avLst>
                <a:gd name="adj1" fmla="val 100000"/>
              </a:avLst>
            </a:prstGeom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49" name="Straight Arrow Connector 52">
            <a:extLst>
              <a:ext uri="{FF2B5EF4-FFF2-40B4-BE49-F238E27FC236}">
                <a16:creationId xmlns:a16="http://schemas.microsoft.com/office/drawing/2014/main" id="{855E5660-FACD-CFBE-49AD-8A125060FAAC}"/>
              </a:ext>
            </a:extLst>
          </p:cNvPr>
          <p:cNvCxnSpPr>
            <a:cxnSpLocks/>
          </p:cNvCxnSpPr>
          <p:nvPr/>
        </p:nvCxnSpPr>
        <p:spPr>
          <a:xfrm>
            <a:off x="1380512" y="5422657"/>
            <a:ext cx="1884112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490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7B344-87FA-214B-E781-7CE0E1E13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46385D-285F-0BCD-E146-77C62864BE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82AF151-F66B-74FF-C13B-4AC3CD715343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20377E-FFBB-8B90-0100-B268E0C6797C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녹화 추출 목록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6F9115-9F9F-C4A5-6012-D50E63765385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녹화 플로우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ECFFA1-B16A-AA48-56AF-CEA479DE8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00" y="1228781"/>
            <a:ext cx="1579179" cy="21391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1AA0DC-E114-81E5-312C-5780076508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2377" y="1204758"/>
            <a:ext cx="6661004" cy="41521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0B1FA9D-E654-1241-A975-4B77A37CADF2}"/>
              </a:ext>
            </a:extLst>
          </p:cNvPr>
          <p:cNvSpPr txBox="1"/>
          <p:nvPr/>
        </p:nvSpPr>
        <p:spPr>
          <a:xfrm>
            <a:off x="1172580" y="5462940"/>
            <a:ext cx="1537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검색 기능 추가</a:t>
            </a: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5339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634FD-8C21-E403-D3EE-D9382E2EC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84E8B9-D6EC-CBA4-8832-09B2C8C8FD7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E2CD383-BD17-4574-DF52-955D6A367E60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167167-4673-26D1-0034-FAB06BFDEE6D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녹화 추출 팝업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CBC360-23A2-8A65-86D4-86A6DCC5CA8C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녹화 플로우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FC0D4B-6054-86BF-F114-1053B580B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307" y="1210093"/>
            <a:ext cx="5737356" cy="35570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1B154C-1C48-9228-5F8A-52FE0538904B}"/>
              </a:ext>
            </a:extLst>
          </p:cNvPr>
          <p:cNvSpPr txBox="1"/>
          <p:nvPr/>
        </p:nvSpPr>
        <p:spPr>
          <a:xfrm>
            <a:off x="1568624" y="4980097"/>
            <a:ext cx="658866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체크한 영상 삭제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선택한 동영상 로컬 폴더로 동영상 복사 후</a:t>
            </a:r>
            <a:r>
              <a:rPr lang="en-US" altLang="ko-KR" dirty="0"/>
              <a:t>,</a:t>
            </a:r>
            <a:r>
              <a:rPr lang="ko-KR" altLang="en-US" dirty="0"/>
              <a:t> 동영상 플레이어 팝업에서 확인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화면 녹화 창 열기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체크한 영상 추출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검색 기능 추가</a:t>
            </a:r>
          </a:p>
        </p:txBody>
      </p:sp>
    </p:spTree>
    <p:extLst>
      <p:ext uri="{BB962C8B-B14F-4D97-AF65-F5344CB8AC3E}">
        <p14:creationId xmlns:p14="http://schemas.microsoft.com/office/powerpoint/2010/main" val="4206648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4B556-4AAB-D2C4-B224-FF774164E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7C0362-937C-24FB-E23B-F91FE07E209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5157F1B-FC3E-DF17-25D0-37381D8FB342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A50B82-3CAA-1C6F-A663-B0F6556C6D66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녹화 창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107A9D-11A5-5256-975D-B5F71D91C6FF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녹화 플로우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F650BB-F464-6D56-7E21-2E689574CB86}"/>
              </a:ext>
            </a:extLst>
          </p:cNvPr>
          <p:cNvSpPr txBox="1"/>
          <p:nvPr/>
        </p:nvSpPr>
        <p:spPr>
          <a:xfrm>
            <a:off x="880762" y="4774351"/>
            <a:ext cx="28472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상단 창 타이틀에 녹화</a:t>
            </a:r>
            <a:r>
              <a:rPr lang="en-US" altLang="ko-KR" dirty="0"/>
              <a:t>/</a:t>
            </a:r>
            <a:r>
              <a:rPr lang="ko-KR" altLang="en-US" dirty="0"/>
              <a:t>중지 버튼</a:t>
            </a:r>
            <a:endParaRPr lang="en-US" altLang="ko-KR" dirty="0"/>
          </a:p>
          <a:p>
            <a:r>
              <a:rPr lang="en-US" altLang="ko-KR" dirty="0"/>
              <a:t>* </a:t>
            </a:r>
            <a:r>
              <a:rPr lang="ko-KR" altLang="en-US" dirty="0"/>
              <a:t>선 내부 영역은 투명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BF211B-B03A-F3C6-2BF5-B04EBC2DA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24" y="1348938"/>
            <a:ext cx="3449232" cy="25828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C1F1D7-2EDA-6D7C-4593-FFACE7200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087" y="1286172"/>
            <a:ext cx="3624337" cy="27084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663BE9-A64F-7F49-22DD-519688D1EEEE}"/>
              </a:ext>
            </a:extLst>
          </p:cNvPr>
          <p:cNvSpPr txBox="1"/>
          <p:nvPr/>
        </p:nvSpPr>
        <p:spPr>
          <a:xfrm>
            <a:off x="1892660" y="4018979"/>
            <a:ext cx="7857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녹화 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0EA21B-906A-348F-9C69-E4BD20693833}"/>
              </a:ext>
            </a:extLst>
          </p:cNvPr>
          <p:cNvSpPr txBox="1"/>
          <p:nvPr/>
        </p:nvSpPr>
        <p:spPr>
          <a:xfrm>
            <a:off x="6564358" y="4073463"/>
            <a:ext cx="7857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녹화 중</a:t>
            </a:r>
          </a:p>
        </p:txBody>
      </p:sp>
    </p:spTree>
    <p:extLst>
      <p:ext uri="{BB962C8B-B14F-4D97-AF65-F5344CB8AC3E}">
        <p14:creationId xmlns:p14="http://schemas.microsoft.com/office/powerpoint/2010/main" val="1322336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E92FA-6E3F-FA9F-DC58-21A8C7EB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9B62AA-C6DC-F71C-9146-8746E845707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1D551B4-0E17-7A0A-75FE-8B8180CF3440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588B9C-C51F-4EC5-E669-1A2B71685A3A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동영상 플레이어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1710F1-5855-E120-3E5D-3231AD89F042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녹화 플로우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B0F07-4C0D-394B-20D6-808F2C29428E}"/>
              </a:ext>
            </a:extLst>
          </p:cNvPr>
          <p:cNvSpPr txBox="1"/>
          <p:nvPr/>
        </p:nvSpPr>
        <p:spPr>
          <a:xfrm>
            <a:off x="776536" y="5125469"/>
            <a:ext cx="44406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설정 </a:t>
            </a:r>
            <a:r>
              <a:rPr lang="en-US" altLang="ko-KR" dirty="0"/>
              <a:t>: ?(</a:t>
            </a:r>
            <a:r>
              <a:rPr lang="ko-KR" altLang="en-US" dirty="0"/>
              <a:t>어떤 기능이 필요한지 설명 필요합니다</a:t>
            </a:r>
            <a:r>
              <a:rPr lang="en-US" altLang="ko-KR" dirty="0"/>
              <a:t>.)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추출 </a:t>
            </a:r>
            <a:r>
              <a:rPr lang="en-US" altLang="ko-KR" dirty="0"/>
              <a:t>: </a:t>
            </a:r>
            <a:r>
              <a:rPr lang="ko-KR" altLang="en-US" dirty="0"/>
              <a:t>해당 영상을 추출</a:t>
            </a:r>
            <a:r>
              <a:rPr lang="en-US" altLang="ko-KR" dirty="0"/>
              <a:t>(</a:t>
            </a:r>
            <a:r>
              <a:rPr lang="ko-KR" altLang="en-US" dirty="0"/>
              <a:t>반출</a:t>
            </a:r>
            <a:r>
              <a:rPr lang="en-US" altLang="ko-KR" dirty="0"/>
              <a:t>)</a:t>
            </a:r>
            <a:r>
              <a:rPr lang="ko-KR" altLang="en-US" dirty="0"/>
              <a:t> 처리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동영상 재생</a:t>
            </a:r>
            <a:r>
              <a:rPr lang="en-US" altLang="ko-KR" dirty="0"/>
              <a:t>/</a:t>
            </a:r>
            <a:r>
              <a:rPr lang="ko-KR" altLang="en-US" dirty="0"/>
              <a:t>정지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창 닫기 시 로컬 동영상 삭제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A8A6BA-7C0F-C889-952B-5BD141D85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700" y="1214261"/>
            <a:ext cx="5148572" cy="369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187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45D26-B7AD-B73F-C038-1D941BE9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D576352-2B39-5A2A-7197-AD4B28DB9CB8}"/>
              </a:ext>
            </a:extLst>
          </p:cNvPr>
          <p:cNvSpPr/>
          <p:nvPr/>
        </p:nvSpPr>
        <p:spPr>
          <a:xfrm>
            <a:off x="2279850" y="1340768"/>
            <a:ext cx="1267385" cy="399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38"/>
              <a:t>분석관단말기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393E85A5-F991-38CA-A8DB-B00433D57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187607"/>
            <a:ext cx="8543925" cy="316028"/>
          </a:xfrm>
        </p:spPr>
        <p:txBody>
          <a:bodyPr>
            <a:noAutofit/>
          </a:bodyPr>
          <a:lstStyle/>
          <a:p>
            <a:r>
              <a:rPr lang="ko-KR" altLang="en-US" sz="2275" dirty="0"/>
              <a:t>녹화 재생</a:t>
            </a:r>
            <a:r>
              <a:rPr lang="en-US" altLang="ko-KR" sz="2275" dirty="0"/>
              <a:t> </a:t>
            </a:r>
            <a:r>
              <a:rPr lang="ko-KR" altLang="en-US" sz="2275" dirty="0"/>
              <a:t>플로우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0B3FF3A-A549-1243-9F65-B76C02F940C0}"/>
              </a:ext>
            </a:extLst>
          </p:cNvPr>
          <p:cNvCxnSpPr>
            <a:stCxn id="7" idx="2"/>
          </p:cNvCxnSpPr>
          <p:nvPr/>
        </p:nvCxnSpPr>
        <p:spPr>
          <a:xfrm>
            <a:off x="2913542" y="1740338"/>
            <a:ext cx="8650" cy="347799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0A46F08-C56E-F14E-F656-13E0BF59CFFF}"/>
              </a:ext>
            </a:extLst>
          </p:cNvPr>
          <p:cNvCxnSpPr>
            <a:cxnSpLocks/>
          </p:cNvCxnSpPr>
          <p:nvPr/>
        </p:nvCxnSpPr>
        <p:spPr>
          <a:xfrm>
            <a:off x="2914453" y="2032618"/>
            <a:ext cx="188947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B755454-EA37-1792-D695-5F44C94B4E29}"/>
              </a:ext>
            </a:extLst>
          </p:cNvPr>
          <p:cNvSpPr/>
          <p:nvPr/>
        </p:nvSpPr>
        <p:spPr>
          <a:xfrm>
            <a:off x="4170231" y="1340768"/>
            <a:ext cx="1267385" cy="399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38" dirty="0"/>
              <a:t>DB</a:t>
            </a:r>
            <a:endParaRPr lang="ko-KR" altLang="en-US" sz="1138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F1D76-99E2-58A2-C1D3-4F0E726E17FA}"/>
              </a:ext>
            </a:extLst>
          </p:cNvPr>
          <p:cNvCxnSpPr>
            <a:stCxn id="5" idx="2"/>
          </p:cNvCxnSpPr>
          <p:nvPr/>
        </p:nvCxnSpPr>
        <p:spPr>
          <a:xfrm flipH="1">
            <a:off x="4793226" y="1740338"/>
            <a:ext cx="10697" cy="351668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D5C051D-B598-8C18-F223-6307E65A4751}"/>
              </a:ext>
            </a:extLst>
          </p:cNvPr>
          <p:cNvSpPr/>
          <p:nvPr/>
        </p:nvSpPr>
        <p:spPr>
          <a:xfrm>
            <a:off x="6393160" y="1340768"/>
            <a:ext cx="1267385" cy="399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38" dirty="0"/>
              <a:t>저장자료폴더</a:t>
            </a:r>
            <a:r>
              <a:rPr lang="en-US" altLang="ko-KR" sz="1138" dirty="0"/>
              <a:t>(NAS)</a:t>
            </a:r>
            <a:endParaRPr lang="ko-KR" altLang="en-US" sz="1138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D85EA6-226B-37CD-B782-BCDBC12F6A99}"/>
              </a:ext>
            </a:extLst>
          </p:cNvPr>
          <p:cNvCxnSpPr>
            <a:stCxn id="11" idx="2"/>
          </p:cNvCxnSpPr>
          <p:nvPr/>
        </p:nvCxnSpPr>
        <p:spPr>
          <a:xfrm flipH="1">
            <a:off x="7016156" y="1740338"/>
            <a:ext cx="10697" cy="351668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0AB68FB-C37B-BFEA-67B1-500D5F6DCEC3}"/>
              </a:ext>
            </a:extLst>
          </p:cNvPr>
          <p:cNvSpPr txBox="1"/>
          <p:nvPr/>
        </p:nvSpPr>
        <p:spPr>
          <a:xfrm>
            <a:off x="3145337" y="3485215"/>
            <a:ext cx="1658586" cy="442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재생 및 닫기시 </a:t>
            </a:r>
            <a:endParaRPr lang="en-US" altLang="ko-KR" sz="1138" dirty="0"/>
          </a:p>
          <a:p>
            <a:r>
              <a:rPr lang="ko-KR" altLang="en-US" sz="1138" dirty="0"/>
              <a:t>로컬 동영상 파일 삭제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8F56DDE-DC6F-2A4C-33A5-35B44486AC67}"/>
              </a:ext>
            </a:extLst>
          </p:cNvPr>
          <p:cNvCxnSpPr>
            <a:cxnSpLocks/>
          </p:cNvCxnSpPr>
          <p:nvPr/>
        </p:nvCxnSpPr>
        <p:spPr>
          <a:xfrm>
            <a:off x="2922192" y="2173136"/>
            <a:ext cx="188947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C20645-C626-28FE-3204-49C31B65D1F5}"/>
              </a:ext>
            </a:extLst>
          </p:cNvPr>
          <p:cNvSpPr txBox="1"/>
          <p:nvPr/>
        </p:nvSpPr>
        <p:spPr>
          <a:xfrm>
            <a:off x="2837094" y="2202566"/>
            <a:ext cx="3030504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녹화 정보 요청 및 목록 갱신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7C91522-E4B9-CACA-EB92-82661C2877B5}"/>
              </a:ext>
            </a:extLst>
          </p:cNvPr>
          <p:cNvCxnSpPr>
            <a:cxnSpLocks/>
          </p:cNvCxnSpPr>
          <p:nvPr/>
        </p:nvCxnSpPr>
        <p:spPr>
          <a:xfrm>
            <a:off x="2922192" y="2752698"/>
            <a:ext cx="4104661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C42920F-18A5-1D35-7641-882782F9301C}"/>
              </a:ext>
            </a:extLst>
          </p:cNvPr>
          <p:cNvCxnSpPr>
            <a:cxnSpLocks/>
          </p:cNvCxnSpPr>
          <p:nvPr/>
        </p:nvCxnSpPr>
        <p:spPr>
          <a:xfrm>
            <a:off x="2922192" y="2932718"/>
            <a:ext cx="4115357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0EFE00A-4D69-ECD5-03BF-7D286B9BF696}"/>
              </a:ext>
            </a:extLst>
          </p:cNvPr>
          <p:cNvSpPr txBox="1"/>
          <p:nvPr/>
        </p:nvSpPr>
        <p:spPr>
          <a:xfrm>
            <a:off x="4927027" y="2990831"/>
            <a:ext cx="3030504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동영상 로컬 폴더 복사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0A07E6E-8235-2475-3978-8D2829DA1BE8}"/>
              </a:ext>
            </a:extLst>
          </p:cNvPr>
          <p:cNvGrpSpPr/>
          <p:nvPr/>
        </p:nvGrpSpPr>
        <p:grpSpPr>
          <a:xfrm>
            <a:off x="2931978" y="3399891"/>
            <a:ext cx="208956" cy="628345"/>
            <a:chOff x="1709738" y="4567238"/>
            <a:chExt cx="257176" cy="638175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8C20DAD-1969-79F7-26DC-1A49F3A7F37E}"/>
                </a:ext>
              </a:extLst>
            </p:cNvPr>
            <p:cNvCxnSpPr/>
            <p:nvPr/>
          </p:nvCxnSpPr>
          <p:spPr>
            <a:xfrm>
              <a:off x="1709738" y="4567238"/>
              <a:ext cx="257175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F6304AF3-4C44-72B6-99E0-9AE49B1FC90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519239" y="4757738"/>
              <a:ext cx="638175" cy="257175"/>
            </a:xfrm>
            <a:prstGeom prst="bentConnector3">
              <a:avLst>
                <a:gd name="adj1" fmla="val 100000"/>
              </a:avLst>
            </a:prstGeom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2380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B1CA7-0526-DC16-CD97-A0539D891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5124BA-644F-DE7A-2843-EB9A425B74F1}"/>
              </a:ext>
            </a:extLst>
          </p:cNvPr>
          <p:cNvSpPr/>
          <p:nvPr/>
        </p:nvSpPr>
        <p:spPr>
          <a:xfrm>
            <a:off x="746820" y="612914"/>
            <a:ext cx="1267385" cy="399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38"/>
              <a:t>분석관단말기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E1D6D5-FDD9-B329-A79C-C08423FD8EE0}"/>
              </a:ext>
            </a:extLst>
          </p:cNvPr>
          <p:cNvSpPr/>
          <p:nvPr/>
        </p:nvSpPr>
        <p:spPr>
          <a:xfrm>
            <a:off x="6452088" y="612914"/>
            <a:ext cx="1423989" cy="399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38" dirty="0"/>
              <a:t>반출자료폴더</a:t>
            </a:r>
            <a:r>
              <a:rPr lang="en-US" altLang="ko-KR" sz="1138" dirty="0"/>
              <a:t/>
            </a:r>
            <a:br>
              <a:rPr lang="en-US" altLang="ko-KR" sz="1138" dirty="0"/>
            </a:br>
            <a:r>
              <a:rPr lang="en-US" altLang="ko-KR" sz="1138" dirty="0"/>
              <a:t>(NAS)</a:t>
            </a:r>
            <a:endParaRPr lang="ko-KR" altLang="en-US" sz="1138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404174A2-F567-1812-F77F-C83D40599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187607"/>
            <a:ext cx="8543925" cy="316028"/>
          </a:xfrm>
        </p:spPr>
        <p:txBody>
          <a:bodyPr>
            <a:noAutofit/>
          </a:bodyPr>
          <a:lstStyle/>
          <a:p>
            <a:r>
              <a:rPr lang="ko-KR" altLang="en-US" sz="2275" dirty="0"/>
              <a:t>녹화 추출</a:t>
            </a:r>
            <a:r>
              <a:rPr lang="en-US" altLang="ko-KR" sz="2275" dirty="0"/>
              <a:t> </a:t>
            </a:r>
            <a:r>
              <a:rPr lang="ko-KR" altLang="en-US" sz="2275" dirty="0"/>
              <a:t>플로우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14E8E5-DB1F-6FEE-D410-84140B1D891A}"/>
              </a:ext>
            </a:extLst>
          </p:cNvPr>
          <p:cNvCxnSpPr>
            <a:stCxn id="7" idx="2"/>
          </p:cNvCxnSpPr>
          <p:nvPr/>
        </p:nvCxnSpPr>
        <p:spPr>
          <a:xfrm>
            <a:off x="1380512" y="1012484"/>
            <a:ext cx="8650" cy="347799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1772CBA-EF61-2E42-CB31-73DB860F6745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153386" y="1012484"/>
            <a:ext cx="10697" cy="35166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52C813C-9CC2-05E8-1A13-39B42F01A829}"/>
              </a:ext>
            </a:extLst>
          </p:cNvPr>
          <p:cNvCxnSpPr>
            <a:cxnSpLocks/>
          </p:cNvCxnSpPr>
          <p:nvPr/>
        </p:nvCxnSpPr>
        <p:spPr>
          <a:xfrm>
            <a:off x="1381423" y="1304764"/>
            <a:ext cx="188947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E728FE1-1F94-1283-E40E-AAE589CB9992}"/>
              </a:ext>
            </a:extLst>
          </p:cNvPr>
          <p:cNvSpPr txBox="1"/>
          <p:nvPr/>
        </p:nvSpPr>
        <p:spPr>
          <a:xfrm>
            <a:off x="1365384" y="2464562"/>
            <a:ext cx="3030504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녹화 배포 정보 갱신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74C2FA-2A8F-3829-5ECC-1F81B91B6FE8}"/>
              </a:ext>
            </a:extLst>
          </p:cNvPr>
          <p:cNvSpPr/>
          <p:nvPr/>
        </p:nvSpPr>
        <p:spPr>
          <a:xfrm>
            <a:off x="2637201" y="612914"/>
            <a:ext cx="1267385" cy="399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38" dirty="0"/>
              <a:t>DB</a:t>
            </a:r>
            <a:endParaRPr lang="ko-KR" altLang="en-US" sz="1138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16FD2AE-CDAC-3C79-A681-CAE5F5BA46AB}"/>
              </a:ext>
            </a:extLst>
          </p:cNvPr>
          <p:cNvCxnSpPr>
            <a:stCxn id="5" idx="2"/>
          </p:cNvCxnSpPr>
          <p:nvPr/>
        </p:nvCxnSpPr>
        <p:spPr>
          <a:xfrm flipH="1">
            <a:off x="3260196" y="1012484"/>
            <a:ext cx="10697" cy="351668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5477E1A-C1C9-32F3-D19E-C8C9BCC36990}"/>
              </a:ext>
            </a:extLst>
          </p:cNvPr>
          <p:cNvSpPr/>
          <p:nvPr/>
        </p:nvSpPr>
        <p:spPr>
          <a:xfrm>
            <a:off x="4860130" y="612914"/>
            <a:ext cx="1267385" cy="399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38" dirty="0"/>
              <a:t>저장자료폴더</a:t>
            </a:r>
            <a:r>
              <a:rPr lang="en-US" altLang="ko-KR" sz="1138" dirty="0"/>
              <a:t>(NAS)</a:t>
            </a:r>
            <a:endParaRPr lang="ko-KR" altLang="en-US" sz="1138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FA4D32-83D7-1F1D-F2CD-6CFD30BE5A43}"/>
              </a:ext>
            </a:extLst>
          </p:cNvPr>
          <p:cNvCxnSpPr>
            <a:stCxn id="11" idx="2"/>
          </p:cNvCxnSpPr>
          <p:nvPr/>
        </p:nvCxnSpPr>
        <p:spPr>
          <a:xfrm flipH="1">
            <a:off x="5483126" y="1012484"/>
            <a:ext cx="10697" cy="351668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678CF0-EF7C-BDDD-B2E7-FEC4EDA9E48D}"/>
              </a:ext>
            </a:extLst>
          </p:cNvPr>
          <p:cNvCxnSpPr>
            <a:cxnSpLocks/>
          </p:cNvCxnSpPr>
          <p:nvPr/>
        </p:nvCxnSpPr>
        <p:spPr>
          <a:xfrm>
            <a:off x="1370726" y="2380740"/>
            <a:ext cx="188947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6F5B2C3-4444-9548-3727-8878C0C6763B}"/>
              </a:ext>
            </a:extLst>
          </p:cNvPr>
          <p:cNvSpPr txBox="1"/>
          <p:nvPr/>
        </p:nvSpPr>
        <p:spPr>
          <a:xfrm>
            <a:off x="2796139" y="2945412"/>
            <a:ext cx="3616791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녹화 파일 저장자료폴더에서 반출자료폴더 이동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13316D-3BA6-DC35-2D65-DE0642429BC2}"/>
              </a:ext>
            </a:extLst>
          </p:cNvPr>
          <p:cNvCxnSpPr>
            <a:cxnSpLocks/>
          </p:cNvCxnSpPr>
          <p:nvPr/>
        </p:nvCxnSpPr>
        <p:spPr>
          <a:xfrm>
            <a:off x="1414988" y="4196986"/>
            <a:ext cx="7361735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75F9229-701A-05DE-7A21-FB262F358A13}"/>
              </a:ext>
            </a:extLst>
          </p:cNvPr>
          <p:cNvSpPr txBox="1"/>
          <p:nvPr/>
        </p:nvSpPr>
        <p:spPr>
          <a:xfrm>
            <a:off x="3322977" y="4283997"/>
            <a:ext cx="54384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녹화 추출 완료 패킷 전송</a:t>
            </a:r>
            <a:r>
              <a:rPr lang="en-US" altLang="ko-KR" sz="1200" dirty="0"/>
              <a:t>(</a:t>
            </a:r>
            <a:r>
              <a:rPr lang="pt-BR" altLang="ko-KR" sz="1200" dirty="0"/>
              <a:t>MSG_AIAS_EXPORT_DATA_REQ)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FAC9EA4-E568-F4F1-DE4E-33D259A1C016}"/>
              </a:ext>
            </a:extLst>
          </p:cNvPr>
          <p:cNvSpPr txBox="1"/>
          <p:nvPr/>
        </p:nvSpPr>
        <p:spPr>
          <a:xfrm>
            <a:off x="3720026" y="1990123"/>
            <a:ext cx="3030504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추출 갯수 만큼 반복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BB1E31B-A473-8FA7-7210-81F86B732180}"/>
              </a:ext>
            </a:extLst>
          </p:cNvPr>
          <p:cNvSpPr txBox="1"/>
          <p:nvPr/>
        </p:nvSpPr>
        <p:spPr>
          <a:xfrm>
            <a:off x="-58959" y="1822220"/>
            <a:ext cx="1912555" cy="442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목록 체크박스 선택 또는 </a:t>
            </a:r>
            <a:endParaRPr lang="en-US" altLang="ko-KR" sz="1138" dirty="0"/>
          </a:p>
          <a:p>
            <a:r>
              <a:rPr lang="ko-KR" altLang="en-US" sz="1138" dirty="0"/>
              <a:t>동영상 플레이어에서 추출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5F09D3B-061A-B9AA-8735-494728E3C27B}"/>
              </a:ext>
            </a:extLst>
          </p:cNvPr>
          <p:cNvCxnSpPr>
            <a:cxnSpLocks/>
          </p:cNvCxnSpPr>
          <p:nvPr/>
        </p:nvCxnSpPr>
        <p:spPr>
          <a:xfrm>
            <a:off x="1389162" y="1445282"/>
            <a:ext cx="188947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84A005A-B582-E67E-D880-7BCC7DCAFCB7}"/>
              </a:ext>
            </a:extLst>
          </p:cNvPr>
          <p:cNvSpPr txBox="1"/>
          <p:nvPr/>
        </p:nvSpPr>
        <p:spPr>
          <a:xfrm>
            <a:off x="1304064" y="1474712"/>
            <a:ext cx="3030504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녹화 정보 요청 및 목록 갱신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B6B637-C559-B4FF-6FDE-63F815AB7BB6}"/>
              </a:ext>
            </a:extLst>
          </p:cNvPr>
          <p:cNvSpPr/>
          <p:nvPr/>
        </p:nvSpPr>
        <p:spPr>
          <a:xfrm>
            <a:off x="1118579" y="2272727"/>
            <a:ext cx="6956845" cy="1042571"/>
          </a:xfrm>
          <a:prstGeom prst="rect">
            <a:avLst/>
          </a:prstGeom>
          <a:noFill/>
          <a:ln>
            <a:solidFill>
              <a:srgbClr val="33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6FCE8C-4DAD-F9DE-0139-B689CDC1D521}"/>
              </a:ext>
            </a:extLst>
          </p:cNvPr>
          <p:cNvSpPr/>
          <p:nvPr/>
        </p:nvSpPr>
        <p:spPr>
          <a:xfrm>
            <a:off x="8075425" y="612914"/>
            <a:ext cx="1423989" cy="399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38" dirty="0"/>
              <a:t>분석서버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B014B8-8CF9-3B02-9229-7DD579A03498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8776723" y="1012484"/>
            <a:ext cx="10697" cy="35166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D5CA4C-A55F-7F29-7EE5-13B3237C499D}"/>
              </a:ext>
            </a:extLst>
          </p:cNvPr>
          <p:cNvCxnSpPr>
            <a:cxnSpLocks/>
          </p:cNvCxnSpPr>
          <p:nvPr/>
        </p:nvCxnSpPr>
        <p:spPr>
          <a:xfrm>
            <a:off x="1389162" y="2884796"/>
            <a:ext cx="4093964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08F73FD-49ED-A89E-5213-D4B146CEB052}"/>
              </a:ext>
            </a:extLst>
          </p:cNvPr>
          <p:cNvCxnSpPr>
            <a:cxnSpLocks/>
          </p:cNvCxnSpPr>
          <p:nvPr/>
        </p:nvCxnSpPr>
        <p:spPr>
          <a:xfrm>
            <a:off x="5504519" y="2893233"/>
            <a:ext cx="1636103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03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4A4F2-C41A-7072-F65A-371571CC3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77E749-3D2F-4075-1AE7-0229F8831A0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2A9E1F2-BF7A-EEB8-9009-A39FEA2C6F30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A18EBA-71CC-73B1-1359-CBA0198FF9A5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배포 목록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6DE91A-C13F-D878-076F-56022E85A543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배포 플로우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6A20BA-2080-5898-7C88-5EC4C6EA0C3C}"/>
              </a:ext>
            </a:extLst>
          </p:cNvPr>
          <p:cNvSpPr txBox="1"/>
          <p:nvPr/>
        </p:nvSpPr>
        <p:spPr>
          <a:xfrm>
            <a:off x="920552" y="4905164"/>
            <a:ext cx="167065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배포 등록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배포자료 편집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배포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628FDFB-B383-4322-E4E4-431DE9EDE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612" y="1258509"/>
            <a:ext cx="6501172" cy="361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347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595BE-F397-BC86-A54F-E453C32A9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CFF056-21B1-0AF2-838C-22AEFF242B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0611A50-7625-87B7-E67E-2B2052932649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60048A-A64A-B1A9-7634-CDD7430355EA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배포 등록 팝업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1C5680-0FBB-CF7E-9CAA-96C7D4CDA636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배포 플로우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22AEE6-8CDE-B551-73FD-9C8B81B9F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884" y="1185759"/>
            <a:ext cx="1844542" cy="37170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D4BE28-71C4-E385-3D0B-294D4AF0C9B2}"/>
              </a:ext>
            </a:extLst>
          </p:cNvPr>
          <p:cNvSpPr txBox="1"/>
          <p:nvPr/>
        </p:nvSpPr>
        <p:spPr>
          <a:xfrm>
            <a:off x="920552" y="4905164"/>
            <a:ext cx="360226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배포 경로</a:t>
            </a:r>
            <a:r>
              <a:rPr lang="en-US" altLang="ko-KR" dirty="0"/>
              <a:t>(</a:t>
            </a:r>
            <a:r>
              <a:rPr lang="ko-KR" altLang="en-US" dirty="0"/>
              <a:t>필요한 내용인지 검토 필요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배포그룹 명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배포처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보호기간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설명</a:t>
            </a:r>
          </a:p>
        </p:txBody>
      </p:sp>
    </p:spTree>
    <p:extLst>
      <p:ext uri="{BB962C8B-B14F-4D97-AF65-F5344CB8AC3E}">
        <p14:creationId xmlns:p14="http://schemas.microsoft.com/office/powerpoint/2010/main" val="1898964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DF9D8-C13C-0CD2-D06D-2489D2D3D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49E850-9C07-11B9-0E98-7B86780EE91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41F5371-48DD-6AE1-5187-2735712E9F59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80C594-FD64-049B-B980-F6DCAC8F60F9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배포 자료 편집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063913-8350-CB11-82A7-D2BBF34794A6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배포 플로우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498828-CB30-881B-9457-72DA315322E4}"/>
              </a:ext>
            </a:extLst>
          </p:cNvPr>
          <p:cNvSpPr txBox="1"/>
          <p:nvPr/>
        </p:nvSpPr>
        <p:spPr>
          <a:xfrm>
            <a:off x="622884" y="5013176"/>
            <a:ext cx="18914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협대역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Active Intercept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순간소음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능동소나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427183-D7DB-9D1F-6C4A-FD572491A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884" y="3140968"/>
            <a:ext cx="5696979" cy="16009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8A460F-A20A-9F88-6DBF-531B3C8B1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00" y="1091300"/>
            <a:ext cx="3372197" cy="18888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CE0AA5-C068-AE0D-4A5D-1E51F1B6ED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8467" y="1120267"/>
            <a:ext cx="3338909" cy="18696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03FC07-E84D-FE7C-C1A3-6A537A9FAA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499" y="3048727"/>
            <a:ext cx="3372198" cy="189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476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B0A07-53A8-8239-757F-C87E275E4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099D6F-AEC6-E9C6-75A0-ED09E190214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9D5C40E-F0C2-3061-E40C-707F1E1C3679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FB950D-4D44-BC6F-8E3B-8D53C53F53BB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배포 팝업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AA1BA-B4FE-D7E3-45DA-C15361C57252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배포 플로우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AE563-F303-9650-7794-6206B03C88AE}"/>
              </a:ext>
            </a:extLst>
          </p:cNvPr>
          <p:cNvSpPr txBox="1"/>
          <p:nvPr/>
        </p:nvSpPr>
        <p:spPr>
          <a:xfrm>
            <a:off x="5241870" y="1059806"/>
            <a:ext cx="4123052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긴급 체크 박스 유무에 따라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미입력 사유 텍스트박스 활성화</a:t>
            </a:r>
            <a:r>
              <a:rPr lang="en-US" altLang="ko-KR" dirty="0"/>
              <a:t>/</a:t>
            </a:r>
            <a:r>
              <a:rPr lang="ko-KR" altLang="en-US" dirty="0"/>
              <a:t>비활성화</a:t>
            </a:r>
            <a:r>
              <a:rPr lang="en-US" altLang="ko-KR" dirty="0"/>
              <a:t/>
            </a:r>
            <a:br>
              <a:rPr lang="en-US" altLang="ko-KR" dirty="0"/>
            </a:b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추후 온나라 문서 번호 수정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“</a:t>
            </a:r>
            <a:r>
              <a:rPr lang="ko-KR" altLang="en-US" dirty="0"/>
              <a:t>온나라 문서 번호 갱신</a:t>
            </a:r>
            <a:r>
              <a:rPr lang="en-US" altLang="ko-KR" dirty="0"/>
              <a:t>“ </a:t>
            </a:r>
            <a:r>
              <a:rPr lang="ko-KR" altLang="en-US" dirty="0"/>
              <a:t>버튼으로 </a:t>
            </a:r>
            <a:r>
              <a:rPr lang="en-US" altLang="ko-KR" dirty="0"/>
              <a:t>DB </a:t>
            </a:r>
            <a:r>
              <a:rPr lang="ko-KR" altLang="en-US" dirty="0"/>
              <a:t>수정</a:t>
            </a:r>
            <a:r>
              <a:rPr lang="en-US" altLang="ko-KR" dirty="0"/>
              <a:t/>
            </a:r>
            <a:br>
              <a:rPr lang="en-US" altLang="ko-KR" dirty="0"/>
            </a:b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추가 시 </a:t>
            </a:r>
            <a:r>
              <a:rPr lang="en-US" altLang="ko-KR" dirty="0"/>
              <a:t>DB</a:t>
            </a:r>
            <a:r>
              <a:rPr lang="ko-KR" altLang="en-US" dirty="0"/>
              <a:t>에 배포 관련 정보 저장</a:t>
            </a:r>
            <a:r>
              <a:rPr lang="en-US" altLang="ko-KR" dirty="0"/>
              <a:t/>
            </a:r>
            <a:br>
              <a:rPr lang="en-US" altLang="ko-KR" dirty="0"/>
            </a:b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추가 시 서버에 출력</a:t>
            </a:r>
            <a:r>
              <a:rPr lang="en-US" altLang="ko-KR" dirty="0"/>
              <a:t>/</a:t>
            </a:r>
            <a:r>
              <a:rPr lang="ko-KR" altLang="en-US" dirty="0"/>
              <a:t>배포 요청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pt-BR" altLang="ko-KR" dirty="0"/>
              <a:t>MSG_AIAS_EXPORT_DATA_REQ) </a:t>
            </a:r>
            <a:r>
              <a:rPr lang="ko-KR" altLang="en-US" dirty="0"/>
              <a:t>패킷 전송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err="1"/>
              <a:t>cExportCmd</a:t>
            </a:r>
            <a:r>
              <a:rPr lang="en-US" altLang="ko-KR" dirty="0"/>
              <a:t> = 2 : </a:t>
            </a:r>
            <a:r>
              <a:rPr lang="ko-KR" altLang="en-US" dirty="0"/>
              <a:t>배포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C73473-6FBC-0C27-E703-F64DBD3D1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58" y="1115645"/>
            <a:ext cx="4068452" cy="485143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76F3952-166B-533D-BB37-7BC9B91DB879}"/>
              </a:ext>
            </a:extLst>
          </p:cNvPr>
          <p:cNvSpPr/>
          <p:nvPr/>
        </p:nvSpPr>
        <p:spPr>
          <a:xfrm>
            <a:off x="2504728" y="5697252"/>
            <a:ext cx="575712" cy="32004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6BB318-5C48-0765-82AF-5C10E8E915F5}"/>
              </a:ext>
            </a:extLst>
          </p:cNvPr>
          <p:cNvSpPr/>
          <p:nvPr/>
        </p:nvSpPr>
        <p:spPr>
          <a:xfrm>
            <a:off x="668524" y="2780928"/>
            <a:ext cx="3744416" cy="46805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770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45B7A-5E8E-7BEB-098D-7AC8F3807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33FB87-9A00-864C-9FDA-C604D2F00ABF}"/>
              </a:ext>
            </a:extLst>
          </p:cNvPr>
          <p:cNvSpPr/>
          <p:nvPr/>
        </p:nvSpPr>
        <p:spPr>
          <a:xfrm>
            <a:off x="746820" y="1396811"/>
            <a:ext cx="1267385" cy="399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38" dirty="0"/>
              <a:t>분석관단말기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EC482BB-629A-FA1B-EBDF-A27118493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939603"/>
            <a:ext cx="8543925" cy="316028"/>
          </a:xfrm>
        </p:spPr>
        <p:txBody>
          <a:bodyPr>
            <a:noAutofit/>
          </a:bodyPr>
          <a:lstStyle/>
          <a:p>
            <a:r>
              <a:rPr lang="ko-KR" altLang="en-US" sz="2275" dirty="0"/>
              <a:t>송신</a:t>
            </a:r>
            <a:r>
              <a:rPr lang="en-US" altLang="ko-KR" sz="2275" dirty="0"/>
              <a:t>/</a:t>
            </a:r>
            <a:r>
              <a:rPr lang="ko-KR" altLang="en-US" sz="2275" dirty="0"/>
              <a:t>배포자료 정보</a:t>
            </a:r>
            <a:r>
              <a:rPr lang="en-US" altLang="ko-KR" sz="2275" dirty="0"/>
              <a:t>(</a:t>
            </a:r>
            <a:r>
              <a:rPr lang="ko-KR" altLang="en-US" sz="2275" dirty="0"/>
              <a:t>기준식별</a:t>
            </a:r>
            <a:r>
              <a:rPr lang="en-US" altLang="ko-KR" sz="2275" dirty="0"/>
              <a:t>DB </a:t>
            </a:r>
            <a:r>
              <a:rPr lang="ko-KR" altLang="en-US" sz="2275" dirty="0"/>
              <a:t>배포파일</a:t>
            </a:r>
            <a:r>
              <a:rPr lang="en-US" altLang="ko-KR" sz="2275" dirty="0"/>
              <a:t>)</a:t>
            </a:r>
            <a:endParaRPr lang="ko-KR" altLang="en-US" sz="2275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A158FC5-70DA-0E1F-6822-AF70995B4431}"/>
              </a:ext>
            </a:extLst>
          </p:cNvPr>
          <p:cNvCxnSpPr>
            <a:stCxn id="7" idx="2"/>
          </p:cNvCxnSpPr>
          <p:nvPr/>
        </p:nvCxnSpPr>
        <p:spPr>
          <a:xfrm>
            <a:off x="1380512" y="1796382"/>
            <a:ext cx="8650" cy="347799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C9642BE-9902-3DD5-944A-D18DC309546E}"/>
              </a:ext>
            </a:extLst>
          </p:cNvPr>
          <p:cNvCxnSpPr>
            <a:cxnSpLocks/>
          </p:cNvCxnSpPr>
          <p:nvPr/>
        </p:nvCxnSpPr>
        <p:spPr>
          <a:xfrm>
            <a:off x="1381423" y="2194228"/>
            <a:ext cx="188947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34219E7-A308-8822-6581-89F694530854}"/>
              </a:ext>
            </a:extLst>
          </p:cNvPr>
          <p:cNvSpPr txBox="1"/>
          <p:nvPr/>
        </p:nvSpPr>
        <p:spPr>
          <a:xfrm>
            <a:off x="1663352" y="2231818"/>
            <a:ext cx="3030504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온나라 문서 등록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93035D-685C-42BC-2D1C-B59B49051284}"/>
              </a:ext>
            </a:extLst>
          </p:cNvPr>
          <p:cNvSpPr/>
          <p:nvPr/>
        </p:nvSpPr>
        <p:spPr>
          <a:xfrm>
            <a:off x="2637201" y="1396811"/>
            <a:ext cx="1267385" cy="399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38" dirty="0"/>
              <a:t>해정단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C4485C-E07E-88DC-590F-B1621AC14C09}"/>
              </a:ext>
            </a:extLst>
          </p:cNvPr>
          <p:cNvCxnSpPr>
            <a:stCxn id="5" idx="2"/>
          </p:cNvCxnSpPr>
          <p:nvPr/>
        </p:nvCxnSpPr>
        <p:spPr>
          <a:xfrm flipH="1">
            <a:off x="3260196" y="1796381"/>
            <a:ext cx="10697" cy="351668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394693C-8EF1-35DB-1B70-0D8BFDF98DF1}"/>
              </a:ext>
            </a:extLst>
          </p:cNvPr>
          <p:cNvSpPr/>
          <p:nvPr/>
        </p:nvSpPr>
        <p:spPr>
          <a:xfrm>
            <a:off x="4860130" y="1396811"/>
            <a:ext cx="1267385" cy="399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38" dirty="0"/>
              <a:t>분석서버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98AD78-FF2E-8E97-5AD9-1C28786D83C7}"/>
              </a:ext>
            </a:extLst>
          </p:cNvPr>
          <p:cNvCxnSpPr>
            <a:stCxn id="11" idx="2"/>
          </p:cNvCxnSpPr>
          <p:nvPr/>
        </p:nvCxnSpPr>
        <p:spPr>
          <a:xfrm flipH="1">
            <a:off x="5483126" y="1796381"/>
            <a:ext cx="10697" cy="351668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6A1E421-7DDC-3BBF-CF38-5E03B38C8659}"/>
              </a:ext>
            </a:extLst>
          </p:cNvPr>
          <p:cNvSpPr txBox="1"/>
          <p:nvPr/>
        </p:nvSpPr>
        <p:spPr>
          <a:xfrm>
            <a:off x="3347321" y="2417281"/>
            <a:ext cx="3030504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문서 등록번호를 발급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90B134C-934C-8A33-B9A1-8E770597BD4D}"/>
              </a:ext>
            </a:extLst>
          </p:cNvPr>
          <p:cNvSpPr txBox="1"/>
          <p:nvPr/>
        </p:nvSpPr>
        <p:spPr>
          <a:xfrm>
            <a:off x="2550823" y="3538651"/>
            <a:ext cx="5048575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배포 정보 업데이트</a:t>
            </a:r>
            <a:r>
              <a:rPr lang="en-US" altLang="ko-KR" sz="1138" dirty="0"/>
              <a:t>(</a:t>
            </a:r>
            <a:r>
              <a:rPr lang="ko-KR" altLang="en-US" sz="1138" dirty="0">
                <a:solidFill>
                  <a:srgbClr val="FF0000"/>
                </a:solidFill>
              </a:rPr>
              <a:t>긴급시 문서 등록번호 생략 및 사유 작성</a:t>
            </a:r>
            <a:r>
              <a:rPr lang="en-US" altLang="ko-KR" sz="1138" dirty="0"/>
              <a:t>)</a:t>
            </a:r>
            <a:endParaRPr lang="ko-KR" altLang="en-US" sz="1138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3A92C32-2D9A-57BA-C8D9-20C78E76B1EA}"/>
              </a:ext>
            </a:extLst>
          </p:cNvPr>
          <p:cNvCxnSpPr>
            <a:cxnSpLocks/>
          </p:cNvCxnSpPr>
          <p:nvPr/>
        </p:nvCxnSpPr>
        <p:spPr>
          <a:xfrm>
            <a:off x="1394510" y="4397904"/>
            <a:ext cx="410466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072C2F3-A914-A9B5-9C2F-BE1104E61924}"/>
              </a:ext>
            </a:extLst>
          </p:cNvPr>
          <p:cNvSpPr txBox="1"/>
          <p:nvPr/>
        </p:nvSpPr>
        <p:spPr>
          <a:xfrm>
            <a:off x="1905338" y="1856157"/>
            <a:ext cx="902032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외부 작업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84BA5A4-ECC4-147B-1100-772EFB3A9B80}"/>
              </a:ext>
            </a:extLst>
          </p:cNvPr>
          <p:cNvCxnSpPr>
            <a:cxnSpLocks/>
          </p:cNvCxnSpPr>
          <p:nvPr/>
        </p:nvCxnSpPr>
        <p:spPr>
          <a:xfrm>
            <a:off x="1394510" y="2891033"/>
            <a:ext cx="1876383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B326649-80CD-BA0F-B22B-A209083A516F}"/>
              </a:ext>
            </a:extLst>
          </p:cNvPr>
          <p:cNvSpPr/>
          <p:nvPr/>
        </p:nvSpPr>
        <p:spPr>
          <a:xfrm>
            <a:off x="1189541" y="2110992"/>
            <a:ext cx="2131428" cy="99078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38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DCE55C-3AE1-F180-67C0-62DBF44EDF4D}"/>
              </a:ext>
            </a:extLst>
          </p:cNvPr>
          <p:cNvSpPr txBox="1"/>
          <p:nvPr/>
        </p:nvSpPr>
        <p:spPr>
          <a:xfrm>
            <a:off x="1613172" y="2892000"/>
            <a:ext cx="3030504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문서 등록번호 입력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F0A2E92-D663-330F-8FEA-7191FC83E6B7}"/>
              </a:ext>
            </a:extLst>
          </p:cNvPr>
          <p:cNvSpPr/>
          <p:nvPr/>
        </p:nvSpPr>
        <p:spPr>
          <a:xfrm>
            <a:off x="6644763" y="1396811"/>
            <a:ext cx="1267385" cy="399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38" dirty="0"/>
              <a:t>DB</a:t>
            </a:r>
            <a:endParaRPr lang="ko-KR" altLang="en-US" sz="1138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23226BA-5E21-9FE4-8801-851774BA6B5E}"/>
              </a:ext>
            </a:extLst>
          </p:cNvPr>
          <p:cNvCxnSpPr/>
          <p:nvPr/>
        </p:nvCxnSpPr>
        <p:spPr>
          <a:xfrm flipH="1">
            <a:off x="7278479" y="1770751"/>
            <a:ext cx="10697" cy="351668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EA48046-681D-AFDA-9CAE-31A0CCD5A619}"/>
              </a:ext>
            </a:extLst>
          </p:cNvPr>
          <p:cNvCxnSpPr>
            <a:cxnSpLocks/>
          </p:cNvCxnSpPr>
          <p:nvPr/>
        </p:nvCxnSpPr>
        <p:spPr>
          <a:xfrm>
            <a:off x="1407601" y="5213893"/>
            <a:ext cx="5870854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C393ACC-BD6A-D404-C879-64E047916B39}"/>
              </a:ext>
            </a:extLst>
          </p:cNvPr>
          <p:cNvSpPr txBox="1"/>
          <p:nvPr/>
        </p:nvSpPr>
        <p:spPr>
          <a:xfrm>
            <a:off x="3242620" y="5257354"/>
            <a:ext cx="6045444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온나라 문서 번호 정보 업데이트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FED4B9-2002-453B-BCE0-8E7C2482C196}"/>
              </a:ext>
            </a:extLst>
          </p:cNvPr>
          <p:cNvCxnSpPr>
            <a:cxnSpLocks/>
          </p:cNvCxnSpPr>
          <p:nvPr/>
        </p:nvCxnSpPr>
        <p:spPr>
          <a:xfrm>
            <a:off x="1380512" y="3509557"/>
            <a:ext cx="5897943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DA6B0A0-F829-450A-D07B-DB00F4B8E466}"/>
              </a:ext>
            </a:extLst>
          </p:cNvPr>
          <p:cNvSpPr txBox="1"/>
          <p:nvPr/>
        </p:nvSpPr>
        <p:spPr>
          <a:xfrm>
            <a:off x="1554670" y="4424357"/>
            <a:ext cx="38990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배포 완료 패킷 전송</a:t>
            </a:r>
            <a:r>
              <a:rPr lang="en-US" altLang="ko-KR" sz="1138" dirty="0"/>
              <a:t>(</a:t>
            </a:r>
            <a:r>
              <a:rPr lang="pt-BR" altLang="ko-KR" sz="1200" dirty="0"/>
              <a:t>MSG_AIAS_EXPORT_DATA_REQ)</a:t>
            </a:r>
            <a:endParaRPr lang="ko-KR" altLang="en-US" sz="1138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1FC456-6719-25BF-1790-7EFB3B6FD8FD}"/>
              </a:ext>
            </a:extLst>
          </p:cNvPr>
          <p:cNvSpPr/>
          <p:nvPr/>
        </p:nvSpPr>
        <p:spPr>
          <a:xfrm>
            <a:off x="8184816" y="1396811"/>
            <a:ext cx="1267385" cy="399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38" dirty="0"/>
              <a:t>공용폴더</a:t>
            </a:r>
            <a:r>
              <a:rPr lang="en-US" altLang="ko-KR" sz="1138" dirty="0"/>
              <a:t>(NAS)</a:t>
            </a:r>
            <a:endParaRPr lang="ko-KR" altLang="en-US" sz="1138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EEC150C-BAFD-636F-8E24-D54C39F5E72D}"/>
              </a:ext>
            </a:extLst>
          </p:cNvPr>
          <p:cNvCxnSpPr>
            <a:cxnSpLocks/>
          </p:cNvCxnSpPr>
          <p:nvPr/>
        </p:nvCxnSpPr>
        <p:spPr>
          <a:xfrm>
            <a:off x="1418322" y="3969060"/>
            <a:ext cx="7410884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AA60635-B319-B529-538D-1A3C5BC78362}"/>
              </a:ext>
            </a:extLst>
          </p:cNvPr>
          <p:cNvCxnSpPr/>
          <p:nvPr/>
        </p:nvCxnSpPr>
        <p:spPr>
          <a:xfrm flipH="1">
            <a:off x="8818509" y="1809585"/>
            <a:ext cx="10697" cy="351668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5EE55A8-4F20-6EB0-3447-0368C9966F6A}"/>
              </a:ext>
            </a:extLst>
          </p:cNvPr>
          <p:cNvSpPr txBox="1"/>
          <p:nvPr/>
        </p:nvSpPr>
        <p:spPr>
          <a:xfrm>
            <a:off x="7487393" y="4015303"/>
            <a:ext cx="1678074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38" dirty="0"/>
              <a:t>배포 파일 복사</a:t>
            </a:r>
          </a:p>
        </p:txBody>
      </p:sp>
    </p:spTree>
    <p:extLst>
      <p:ext uri="{BB962C8B-B14F-4D97-AF65-F5344CB8AC3E}">
        <p14:creationId xmlns:p14="http://schemas.microsoft.com/office/powerpoint/2010/main" val="3692354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50882-B4C6-E8FF-62E8-FA683DACA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C3E6FE-5BE4-02FB-5A4B-4A2010D051C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1A01B3D-5E02-BE1F-0DEC-6A717077A6FB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FF2170-C4A4-A61A-70F3-469B5F8B1108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배포 연동 포멧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C74A8E-2C83-850E-E637-B1E1FC66BDE1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배포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33F64A-54FA-1D89-6737-8D1C21AF5F90}"/>
              </a:ext>
            </a:extLst>
          </p:cNvPr>
          <p:cNvSpPr txBox="1"/>
          <p:nvPr/>
        </p:nvSpPr>
        <p:spPr>
          <a:xfrm>
            <a:off x="524508" y="1376772"/>
            <a:ext cx="7355860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기존 배포는 한 배포 그룹에 단 한가지의 연동 포멧이 연결 되어 있음</a:t>
            </a:r>
            <a:r>
              <a:rPr lang="en-US" altLang="ko-KR" dirty="0"/>
              <a:t>.(ex.</a:t>
            </a:r>
            <a:r>
              <a:rPr lang="ko-KR" altLang="en-US" dirty="0"/>
              <a:t> </a:t>
            </a:r>
            <a:r>
              <a:rPr lang="en-US" altLang="ko-KR" dirty="0"/>
              <a:t>USPAS-K)</a:t>
            </a:r>
            <a:r>
              <a:rPr lang="ko-KR" altLang="en-US" dirty="0"/>
              <a:t>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NAIMS-II</a:t>
            </a:r>
            <a:r>
              <a:rPr lang="ko-KR" altLang="en-US" dirty="0"/>
              <a:t>는 여러 연동 포멧이 적용 될 수 있음</a:t>
            </a:r>
            <a:r>
              <a:rPr lang="en-US" altLang="ko-KR" dirty="0"/>
              <a:t>?</a:t>
            </a:r>
            <a:br>
              <a:rPr lang="en-US" altLang="ko-KR" dirty="0"/>
            </a:b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연동 포멧 또는 배포처를 여러개로 설정 할 수 있게 되면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다음 같은 상황이 발생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ISUS83, ISUS83-TCIS </a:t>
            </a:r>
            <a:r>
              <a:rPr lang="ko-KR" altLang="en-US" dirty="0"/>
              <a:t>는 </a:t>
            </a:r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개의 협대역 스니펫</a:t>
            </a:r>
            <a:r>
              <a:rPr lang="ko-KR" altLang="en-US" dirty="0"/>
              <a:t>만 선택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SQR220K </a:t>
            </a:r>
            <a:r>
              <a:rPr lang="ko-KR" altLang="en-US" dirty="0"/>
              <a:t>같은 경우</a:t>
            </a:r>
            <a:r>
              <a:rPr lang="en-US" altLang="ko-KR" dirty="0"/>
              <a:t>, AI, TR </a:t>
            </a:r>
            <a:r>
              <a:rPr lang="ko-KR" altLang="en-US" dirty="0"/>
              <a:t>추출이 필요 없음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>
                <a:solidFill>
                  <a:srgbClr val="FF0000"/>
                </a:solidFill>
              </a:rPr>
              <a:t>배포 관련 정보 연결이 애매해짐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   Zip </a:t>
            </a:r>
            <a:r>
              <a:rPr lang="ko-KR" altLang="en-US" dirty="0"/>
              <a:t>파일 여러개 관리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   </a:t>
            </a:r>
            <a:r>
              <a:rPr lang="ko-KR" altLang="en-US" dirty="0"/>
              <a:t>배포자료 수신자가 모두 같은 사람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   </a:t>
            </a:r>
            <a:r>
              <a:rPr lang="ko-KR" altLang="en-US" dirty="0"/>
              <a:t>온나라 문서 번호 공통 사용</a:t>
            </a:r>
            <a:r>
              <a:rPr lang="en-US" altLang="ko-KR" dirty="0"/>
              <a:t>?   </a:t>
            </a:r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이를 해결하기 위한 다음과 같은 방안 </a:t>
            </a:r>
            <a:endParaRPr lang="en-US" altLang="ko-KR" dirty="0"/>
          </a:p>
          <a:p>
            <a:pPr marL="800100" lvl="1" indent="-342900">
              <a:buAutoNum type="arabicParenR"/>
            </a:pPr>
            <a:r>
              <a:rPr lang="ko-KR" altLang="en-US" dirty="0"/>
              <a:t>기존처럼 연동포멧 다중 선택 금지</a:t>
            </a:r>
            <a:endParaRPr lang="en-US" altLang="ko-KR" dirty="0"/>
          </a:p>
          <a:p>
            <a:pPr marL="800100" lvl="1" indent="-342900">
              <a:buAutoNum type="arabicParenR"/>
            </a:pPr>
            <a:r>
              <a:rPr lang="en-US" altLang="ko-KR" dirty="0"/>
              <a:t>ISUS83, ISUS83-TCIS </a:t>
            </a:r>
            <a:r>
              <a:rPr lang="ko-KR" altLang="en-US" dirty="0"/>
              <a:t>선택시 그 외 연동포멧 선택 불가</a:t>
            </a:r>
            <a:endParaRPr lang="en-US" altLang="ko-KR" dirty="0"/>
          </a:p>
          <a:p>
            <a:pPr marL="800100" lvl="1" indent="-342900">
              <a:buAutoNum type="arabicParenR"/>
            </a:pPr>
            <a:r>
              <a:rPr lang="ko-KR" altLang="en-US" dirty="0"/>
              <a:t>배포 파일 정보 탭 형식</a:t>
            </a:r>
            <a:r>
              <a:rPr lang="en-US" altLang="ko-KR" dirty="0"/>
              <a:t>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A1923B-337A-3844-C5C7-2BBC324C49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13"/>
          <a:stretch>
            <a:fillRect/>
          </a:stretch>
        </p:blipFill>
        <p:spPr>
          <a:xfrm>
            <a:off x="7969657" y="944724"/>
            <a:ext cx="1502004" cy="26642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59B09F-CC77-A3FD-946F-B282C264C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960" y="2232616"/>
            <a:ext cx="2502437" cy="11566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1A4221-A3B3-B296-CEBF-C646BB60C5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1767" y="3043260"/>
            <a:ext cx="2643861" cy="313358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26B58CB-DEDA-FE32-4CCC-EB5AB90B931E}"/>
              </a:ext>
            </a:extLst>
          </p:cNvPr>
          <p:cNvSpPr/>
          <p:nvPr/>
        </p:nvSpPr>
        <p:spPr>
          <a:xfrm>
            <a:off x="6895736" y="5337212"/>
            <a:ext cx="2575924" cy="82268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43A13C-7577-72C0-6EA3-FBDE181489A4}"/>
              </a:ext>
            </a:extLst>
          </p:cNvPr>
          <p:cNvSpPr/>
          <p:nvPr/>
        </p:nvSpPr>
        <p:spPr>
          <a:xfrm>
            <a:off x="6926173" y="3578923"/>
            <a:ext cx="2455319" cy="699609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400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445BC-035B-40F6-CD41-FB8225B62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0D1234-2818-B287-A5A8-A5D1DF821F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EFA7D9D-F8A0-248B-EDFE-1BA61BC4FAEB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E5994D-F744-1523-11E0-45D57B6C6D3D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추출 폴더</a:t>
            </a:r>
            <a:r>
              <a:rPr lang="en-US" altLang="ko-KR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</a:t>
            </a:r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파일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7D6F7C-EBF6-528C-8BD4-3A59EBD3FF7E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파일 저장 위치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42E5ED-0784-8516-C052-AE892DE2229E}"/>
              </a:ext>
            </a:extLst>
          </p:cNvPr>
          <p:cNvSpPr txBox="1"/>
          <p:nvPr/>
        </p:nvSpPr>
        <p:spPr>
          <a:xfrm>
            <a:off x="524508" y="1376772"/>
            <a:ext cx="312842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녹음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en-US" altLang="ko-KR" dirty="0" err="1"/>
              <a:t>AudioExtract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녹화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en-US" altLang="ko-KR" dirty="0" err="1"/>
              <a:t>VideoExtract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배포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Distribution </a:t>
            </a:r>
            <a:r>
              <a:rPr lang="ko-KR" altLang="en-US" dirty="0"/>
              <a:t>내 각각 체계폴더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88D532-33C9-971E-D0E7-5CA1A04BD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494534"/>
              </p:ext>
            </p:extLst>
          </p:nvPr>
        </p:nvGraphicFramePr>
        <p:xfrm>
          <a:off x="596516" y="2951326"/>
          <a:ext cx="8172908" cy="175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0389">
                  <a:extLst>
                    <a:ext uri="{9D8B030D-6E8A-4147-A177-3AD203B41FA5}">
                      <a16:colId xmlns:a16="http://schemas.microsoft.com/office/drawing/2014/main" val="845338825"/>
                    </a:ext>
                  </a:extLst>
                </a:gridCol>
                <a:gridCol w="1919951">
                  <a:extLst>
                    <a:ext uri="{9D8B030D-6E8A-4147-A177-3AD203B41FA5}">
                      <a16:colId xmlns:a16="http://schemas.microsoft.com/office/drawing/2014/main" val="909590314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622234404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18898515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녹음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녹화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배포 파일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26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파일 생성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Z:\VideoExtract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선택한 드라이브</a:t>
                      </a:r>
                      <a:r>
                        <a:rPr lang="en-US" altLang="ko-KR" sz="1200" dirty="0"/>
                        <a:t>:\</a:t>
                      </a:r>
                      <a:r>
                        <a:rPr lang="en-US" altLang="ko-KR" sz="1200" dirty="0" err="1"/>
                        <a:t>Distibution</a:t>
                      </a:r>
                      <a:r>
                        <a:rPr lang="en-US" altLang="ko-KR" sz="1200" dirty="0"/>
                        <a:t>\</a:t>
                      </a:r>
                      <a:r>
                        <a:rPr lang="ko-KR" altLang="en-US" sz="1200" dirty="0"/>
                        <a:t>체계별 폴더</a:t>
                      </a:r>
                      <a:r>
                        <a:rPr lang="en-US" altLang="ko-KR" sz="1200" dirty="0"/>
                        <a:t/>
                      </a:r>
                      <a:br>
                        <a:rPr lang="en-US" altLang="ko-KR" sz="1200" dirty="0"/>
                      </a:br>
                      <a:r>
                        <a:rPr lang="en-US" altLang="ko-KR" sz="900" dirty="0"/>
                        <a:t>ex) C:\Distribution\AIATU_UOTU\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45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반출 폴더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Z:\ExtractedData\Audio\</a:t>
                      </a:r>
                      <a:r>
                        <a:rPr lang="ko-KR" altLang="en-US" sz="1200" dirty="0"/>
                        <a:t>임무명폴더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Z:\ExtractedData\Video</a:t>
                      </a:r>
                      <a:endParaRPr lang="ko-KR" altLang="en-US" sz="1200" dirty="0"/>
                    </a:p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Z:\ExtractedData\Distribution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642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배포 파일명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nb_39384569.wav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record_</a:t>
                      </a:r>
                      <a:r>
                        <a:rPr lang="en-US" altLang="ko-KR" sz="1400" dirty="0"/>
                        <a:t>20260108_141444</a:t>
                      </a:r>
                      <a:r>
                        <a:rPr lang="en-US" altLang="ko-KR" sz="1200" dirty="0"/>
                        <a:t>.avi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CD_UOTU_20260107172256.zip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74653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5FD1409-3002-25B9-2370-C5B8D19849CC}"/>
              </a:ext>
            </a:extLst>
          </p:cNvPr>
          <p:cNvSpPr txBox="1"/>
          <p:nvPr/>
        </p:nvSpPr>
        <p:spPr>
          <a:xfrm>
            <a:off x="524508" y="4905164"/>
            <a:ext cx="5594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현재 이런 폴더</a:t>
            </a:r>
            <a:r>
              <a:rPr lang="en-US" altLang="ko-KR" dirty="0"/>
              <a:t>/</a:t>
            </a:r>
            <a:r>
              <a:rPr lang="ko-KR" altLang="en-US" dirty="0"/>
              <a:t>파일 구조로 개발이 되어 있는데</a:t>
            </a:r>
            <a:endParaRPr lang="en-US" altLang="ko-KR" dirty="0"/>
          </a:p>
          <a:p>
            <a:r>
              <a:rPr lang="ko-KR" altLang="en-US" dirty="0"/>
              <a:t>배포 폴더</a:t>
            </a:r>
            <a:r>
              <a:rPr lang="en-US" altLang="ko-KR" dirty="0"/>
              <a:t>/</a:t>
            </a:r>
            <a:r>
              <a:rPr lang="ko-KR" altLang="en-US" dirty="0"/>
              <a:t>파일에 대해 네이밍 기준이 있으면 가이드 부탁드립니다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5693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3AC70-B13C-EF69-81A7-3B56AE5DA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42000B-D6AB-08B8-772E-1E298C16425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5526511-6692-C805-9CA3-B550162DA435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2F12E-5F80-2FBF-27A3-7F4F5230E48E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임무 열람 등급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DDE130-C5CF-0658-2172-5E02014A7679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임무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2C46BA-8A43-0977-5765-A3D8B7DDFAC0}"/>
              </a:ext>
            </a:extLst>
          </p:cNvPr>
          <p:cNvSpPr txBox="1"/>
          <p:nvPr/>
        </p:nvSpPr>
        <p:spPr>
          <a:xfrm>
            <a:off x="575557" y="4473116"/>
            <a:ext cx="606210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R-AIATU-SFR-</a:t>
            </a:r>
            <a:r>
              <a:rPr lang="ko-KR" altLang="en-US" dirty="0"/>
              <a:t>분석임무제어</a:t>
            </a:r>
            <a:r>
              <a:rPr lang="en-US" altLang="ko-KR" dirty="0"/>
              <a:t>-001</a:t>
            </a:r>
            <a:r>
              <a:rPr lang="ko-KR" altLang="en-US" dirty="0"/>
              <a:t>에 따르면 음향수집자료 열람등급이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</a:t>
            </a:r>
            <a:r>
              <a:rPr lang="ko-KR" altLang="en-US" dirty="0"/>
              <a:t>등급</a:t>
            </a:r>
            <a:r>
              <a:rPr lang="en-US" altLang="ko-KR" dirty="0"/>
              <a:t>/2</a:t>
            </a:r>
            <a:r>
              <a:rPr lang="ko-KR" altLang="en-US" dirty="0"/>
              <a:t>등급인데</a:t>
            </a:r>
            <a:r>
              <a:rPr lang="en-US" altLang="ko-KR" dirty="0"/>
              <a:t>, </a:t>
            </a:r>
            <a:r>
              <a:rPr lang="ko-KR" altLang="en-US" dirty="0"/>
              <a:t>부여 주체와 부여 시점 결정 필요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부여 주체 </a:t>
            </a:r>
            <a:r>
              <a:rPr lang="en-US" altLang="ko-KR" dirty="0"/>
              <a:t>: </a:t>
            </a:r>
            <a:r>
              <a:rPr lang="ko-KR" altLang="en-US" dirty="0"/>
              <a:t>임무 관리 기능을 가진 사용자</a:t>
            </a:r>
            <a:r>
              <a:rPr lang="en-US" altLang="ko-KR" dirty="0"/>
              <a:t>?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부여 시점 </a:t>
            </a:r>
            <a:r>
              <a:rPr lang="en-US" altLang="ko-KR" dirty="0"/>
              <a:t>: </a:t>
            </a:r>
            <a:r>
              <a:rPr lang="ko-KR" altLang="en-US" dirty="0"/>
              <a:t>임무 선택 후 등급 버튼으로 바로 설정</a:t>
            </a:r>
            <a:r>
              <a:rPr lang="en-US" altLang="ko-KR" dirty="0"/>
              <a:t>?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E0E4246-36D3-2BA5-3AD6-9830315064D0}"/>
              </a:ext>
            </a:extLst>
          </p:cNvPr>
          <p:cNvGrpSpPr/>
          <p:nvPr/>
        </p:nvGrpSpPr>
        <p:grpSpPr>
          <a:xfrm>
            <a:off x="570639" y="1214892"/>
            <a:ext cx="3382515" cy="1550910"/>
            <a:chOff x="570639" y="1214892"/>
            <a:chExt cx="3382515" cy="155091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BFDB3A1-11AC-5AE5-28A8-5F7433A04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0639" y="1214892"/>
              <a:ext cx="3382515" cy="1550910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1A6C22D-BBEB-8337-5D02-BCB43D7B9BCE}"/>
                </a:ext>
              </a:extLst>
            </p:cNvPr>
            <p:cNvSpPr/>
            <p:nvPr/>
          </p:nvSpPr>
          <p:spPr>
            <a:xfrm>
              <a:off x="1280592" y="1974204"/>
              <a:ext cx="1944216" cy="15625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4D9EA2A-35D6-AA3D-38A0-976C9D186DBA}"/>
              </a:ext>
            </a:extLst>
          </p:cNvPr>
          <p:cNvGrpSpPr/>
          <p:nvPr/>
        </p:nvGrpSpPr>
        <p:grpSpPr>
          <a:xfrm>
            <a:off x="3698285" y="1728218"/>
            <a:ext cx="5637076" cy="2431636"/>
            <a:chOff x="4124908" y="3212976"/>
            <a:chExt cx="5637076" cy="243163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ED403CE-073D-C503-1720-10E5E9A2D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24908" y="3212976"/>
              <a:ext cx="5637076" cy="2431636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BAABF62-163C-CC79-AEC5-CBD96D11CB07}"/>
                </a:ext>
              </a:extLst>
            </p:cNvPr>
            <p:cNvSpPr/>
            <p:nvPr/>
          </p:nvSpPr>
          <p:spPr>
            <a:xfrm>
              <a:off x="7418132" y="3689547"/>
              <a:ext cx="1113988" cy="1827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/>
                <a:t>열람등급 필드 추가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0581355-E87B-06F7-7AD0-34511128F3F4}"/>
                </a:ext>
              </a:extLst>
            </p:cNvPr>
            <p:cNvSpPr/>
            <p:nvPr/>
          </p:nvSpPr>
          <p:spPr>
            <a:xfrm>
              <a:off x="7410571" y="3872305"/>
              <a:ext cx="648072" cy="1827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1</a:t>
              </a:r>
              <a:r>
                <a:rPr lang="ko-KR" altLang="en-US" sz="800" dirty="0"/>
                <a:t>급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42C16C3-6AAA-E291-38AD-CB7D8C995366}"/>
                </a:ext>
              </a:extLst>
            </p:cNvPr>
            <p:cNvSpPr/>
            <p:nvPr/>
          </p:nvSpPr>
          <p:spPr>
            <a:xfrm>
              <a:off x="7410571" y="4055063"/>
              <a:ext cx="648072" cy="1827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2</a:t>
              </a:r>
              <a:r>
                <a:rPr lang="ko-KR" altLang="en-US" sz="800" dirty="0"/>
                <a:t>급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189D9C7-BB15-5113-3E93-87CC2A58A617}"/>
                </a:ext>
              </a:extLst>
            </p:cNvPr>
            <p:cNvSpPr/>
            <p:nvPr/>
          </p:nvSpPr>
          <p:spPr>
            <a:xfrm>
              <a:off x="7509284" y="5013176"/>
              <a:ext cx="936104" cy="1827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1</a:t>
              </a:r>
              <a:r>
                <a:rPr lang="ko-KR" altLang="en-US" sz="800" dirty="0"/>
                <a:t>등급 설정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F9AC3E7-8505-BD04-9A99-17E4753CCEF6}"/>
                </a:ext>
              </a:extLst>
            </p:cNvPr>
            <p:cNvSpPr/>
            <p:nvPr/>
          </p:nvSpPr>
          <p:spPr>
            <a:xfrm>
              <a:off x="7509284" y="5203662"/>
              <a:ext cx="936104" cy="1827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2</a:t>
              </a:r>
              <a:r>
                <a:rPr lang="ko-KR" altLang="en-US" sz="800" dirty="0"/>
                <a:t>등급 설정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8A657F7A-EDEC-C45F-6B2F-3E63EF5771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524" y="3585855"/>
            <a:ext cx="4556956" cy="70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114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D0E4C-26A2-90ED-3159-A95E47DDA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582C79-5CA2-9BED-4872-E17F994D72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331651D-0BE6-C424-1708-5A8F411DB6D8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BBE6A9-E67E-78C1-99D1-3E61AAB19081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DFADEM</a:t>
            </a:r>
            <a:endParaRPr lang="ko-KR" altLang="en-US" sz="1600" dirty="0">
              <a:solidFill>
                <a:schemeClr val="tx2">
                  <a:lumMod val="50000"/>
                </a:scheme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202A7A-E277-9BE7-DDC9-AE6031CAC529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en-US" altLang="ko-KR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Gram </a:t>
            </a:r>
            <a:r>
              <a:rPr lang="ko-KR" altLang="en-US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예제 테스트</a:t>
            </a:r>
            <a:r>
              <a:rPr lang="en-US" altLang="ko-KR" sz="2200" kern="0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8094D8-0305-0A61-B881-0231CC2C3FFA}"/>
              </a:ext>
            </a:extLst>
          </p:cNvPr>
          <p:cNvSpPr txBox="1"/>
          <p:nvPr/>
        </p:nvSpPr>
        <p:spPr>
          <a:xfrm>
            <a:off x="575557" y="1448780"/>
            <a:ext cx="77864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DFAVER</a:t>
            </a:r>
            <a:r>
              <a:rPr lang="ko-KR" altLang="en-US" dirty="0"/>
              <a:t>와 </a:t>
            </a:r>
            <a:r>
              <a:rPr lang="en-US" altLang="ko-KR" dirty="0"/>
              <a:t>DFALOF</a:t>
            </a:r>
            <a:r>
              <a:rPr lang="ko-KR" altLang="en-US" dirty="0"/>
              <a:t>는 읽어왔는데</a:t>
            </a:r>
            <a:r>
              <a:rPr lang="en-US" altLang="ko-KR" dirty="0"/>
              <a:t>, DFADEM </a:t>
            </a:r>
            <a:r>
              <a:rPr lang="ko-KR" altLang="en-US" dirty="0"/>
              <a:t>형식은 </a:t>
            </a:r>
            <a:r>
              <a:rPr lang="en-US" altLang="ko-KR" dirty="0"/>
              <a:t>GRM_DATA_STRUCTURE </a:t>
            </a:r>
            <a:r>
              <a:rPr lang="ko-KR" altLang="en-US" dirty="0"/>
              <a:t>파일에 없음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09493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1AF23-82B6-5E7A-258E-605CCD157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F0289B-7C92-2B04-1CC6-84F41C2535D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D4E99F2-DDE1-F4CB-3BB1-9142BA1E4101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3841C5-F17F-05A9-6C35-8FC2500BE41C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신호처리 옵션 질문</a:t>
            </a:r>
            <a:endParaRPr lang="ko-KR" altLang="en-US" sz="1600" dirty="0">
              <a:solidFill>
                <a:schemeClr val="tx2">
                  <a:lumMod val="50000"/>
                </a:scheme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11E2C2-976F-D794-2EC7-1A2C01A3C4E1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운용자단말기 신호처리 옵션 선택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2" name="내용 개체 틀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5FD1FA-6903-CEE2-0B45-7DBB330AD481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92" y="1124744"/>
            <a:ext cx="4312766" cy="33220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589CD4-9F1F-EDAC-592A-FBC98B84021A}"/>
              </a:ext>
            </a:extLst>
          </p:cNvPr>
          <p:cNvSpPr txBox="1"/>
          <p:nvPr/>
        </p:nvSpPr>
        <p:spPr>
          <a:xfrm>
            <a:off x="4880992" y="980728"/>
            <a:ext cx="5227676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dirty="0"/>
              <a:t>어떤 파라미터를 입력 </a:t>
            </a:r>
            <a:r>
              <a:rPr lang="ko-KR" altLang="en-US" sz="1100" dirty="0" err="1"/>
              <a:t>받아야할지</a:t>
            </a:r>
            <a:r>
              <a:rPr lang="ko-KR" altLang="en-US" sz="1100" dirty="0"/>
              <a:t> 확인 필요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b="1" dirty="0"/>
              <a:t>자동 입력 옵션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r>
              <a:rPr lang="en-US" altLang="ko-KR" sz="1100" dirty="0"/>
              <a:t> - </a:t>
            </a:r>
            <a:r>
              <a:rPr lang="en-US" altLang="ko-KR" sz="1100" dirty="0" err="1"/>
              <a:t>nFs</a:t>
            </a:r>
            <a:r>
              <a:rPr lang="ko-KR" altLang="en-US" sz="1100" dirty="0"/>
              <a:t> </a:t>
            </a:r>
            <a:r>
              <a:rPr lang="en-US" altLang="ko-KR" sz="1100" dirty="0"/>
              <a:t>		: </a:t>
            </a:r>
            <a:r>
              <a:rPr lang="ko-KR" altLang="en-US" sz="1100" dirty="0"/>
              <a:t>현재 </a:t>
            </a:r>
            <a:r>
              <a:rPr lang="en-US" altLang="ko-KR" sz="1100" dirty="0"/>
              <a:t>wav</a:t>
            </a:r>
            <a:r>
              <a:rPr lang="ko-KR" altLang="en-US" sz="1100" dirty="0"/>
              <a:t>파일 샘플링 주파수</a:t>
            </a:r>
            <a:endParaRPr lang="en-US" altLang="ko-KR" sz="1100" dirty="0"/>
          </a:p>
          <a:p>
            <a:r>
              <a:rPr lang="en-US" altLang="ko-KR" sz="1100" dirty="0"/>
              <a:t> - </a:t>
            </a:r>
            <a:r>
              <a:rPr lang="en-US" altLang="ko-KR" sz="1100" dirty="0" err="1"/>
              <a:t>nInLen</a:t>
            </a:r>
            <a:r>
              <a:rPr lang="en-US" altLang="ko-KR" sz="1100" dirty="0"/>
              <a:t> 		: ?</a:t>
            </a:r>
          </a:p>
          <a:p>
            <a:r>
              <a:rPr lang="en-US" altLang="ko-KR" sz="1100" dirty="0"/>
              <a:t> - </a:t>
            </a:r>
            <a:r>
              <a:rPr lang="en-US" altLang="ko-KR" sz="1100" dirty="0" err="1"/>
              <a:t>nOutLen</a:t>
            </a:r>
            <a:r>
              <a:rPr lang="en-US" altLang="ko-KR" sz="1100" dirty="0"/>
              <a:t>		: Bin</a:t>
            </a:r>
            <a:r>
              <a:rPr lang="ko-KR" altLang="en-US" sz="1100" dirty="0"/>
              <a:t>크기</a:t>
            </a:r>
            <a:r>
              <a:rPr lang="en-US" altLang="ko-KR" sz="1100" dirty="0"/>
              <a:t>?(1601)</a:t>
            </a:r>
          </a:p>
          <a:p>
            <a:endParaRPr lang="en-US" altLang="ko-KR" sz="1100" dirty="0"/>
          </a:p>
          <a:p>
            <a:r>
              <a:rPr lang="ko-KR" altLang="en-US" sz="1100" b="1" dirty="0" err="1"/>
              <a:t>운용자</a:t>
            </a:r>
            <a:r>
              <a:rPr lang="ko-KR" altLang="en-US" sz="1100" b="1" dirty="0"/>
              <a:t> 입력 필요</a:t>
            </a:r>
            <a:endParaRPr lang="en-US" altLang="ko-KR" sz="1100" b="1" dirty="0"/>
          </a:p>
          <a:p>
            <a:r>
              <a:rPr lang="en-US" altLang="ko-KR" sz="1100" dirty="0"/>
              <a:t> - </a:t>
            </a:r>
            <a:r>
              <a:rPr lang="en-US" altLang="ko-KR" sz="1100" dirty="0" err="1"/>
              <a:t>nFFTLen</a:t>
            </a:r>
            <a:r>
              <a:rPr lang="en-US" altLang="ko-KR" sz="1100" dirty="0"/>
              <a:t> 	: FFT </a:t>
            </a:r>
            <a:r>
              <a:rPr lang="ko-KR" altLang="en-US" sz="1100" dirty="0"/>
              <a:t>크기</a:t>
            </a:r>
            <a:endParaRPr lang="en-US" altLang="ko-KR" sz="1100" dirty="0"/>
          </a:p>
          <a:p>
            <a:r>
              <a:rPr lang="en-US" altLang="ko-KR" sz="1100" dirty="0"/>
              <a:t> - </a:t>
            </a:r>
            <a:r>
              <a:rPr lang="en-US" altLang="ko-KR" sz="1100" dirty="0" err="1"/>
              <a:t>nFFTWndType</a:t>
            </a:r>
            <a:r>
              <a:rPr lang="en-US" altLang="ko-KR" sz="1100" dirty="0"/>
              <a:t> 	: </a:t>
            </a:r>
            <a:r>
              <a:rPr lang="ko-KR" altLang="en-US" sz="1100" dirty="0"/>
              <a:t>필터 유형</a:t>
            </a:r>
            <a:endParaRPr lang="en-US" altLang="ko-KR" sz="1100" dirty="0"/>
          </a:p>
          <a:p>
            <a:r>
              <a:rPr lang="en-US" altLang="ko-KR" sz="1100" dirty="0"/>
              <a:t> - </a:t>
            </a:r>
            <a:r>
              <a:rPr lang="en-US" altLang="ko-KR" sz="1100" dirty="0" err="1"/>
              <a:t>fFFTKaiserBeta</a:t>
            </a:r>
            <a:r>
              <a:rPr lang="en-US" altLang="ko-KR" sz="1100" dirty="0"/>
              <a:t>	: </a:t>
            </a:r>
            <a:r>
              <a:rPr lang="ko-KR" altLang="en-US" sz="1100" dirty="0"/>
              <a:t>필터 옵션</a:t>
            </a:r>
            <a:r>
              <a:rPr lang="en-US" altLang="ko-KR" sz="1100" dirty="0"/>
              <a:t>?</a:t>
            </a:r>
          </a:p>
          <a:p>
            <a:r>
              <a:rPr lang="en-US" altLang="ko-KR" sz="1100" dirty="0"/>
              <a:t> - </a:t>
            </a:r>
            <a:r>
              <a:rPr lang="en-US" altLang="ko-KR" sz="1100" dirty="0" err="1"/>
              <a:t>nFFTOverlap</a:t>
            </a:r>
            <a:r>
              <a:rPr lang="en-US" altLang="ko-KR" sz="1100" dirty="0"/>
              <a:t>	:</a:t>
            </a:r>
            <a:r>
              <a:rPr lang="ko-KR" altLang="en-US" sz="1100" dirty="0"/>
              <a:t> 오버랩 비율 </a:t>
            </a:r>
            <a:r>
              <a:rPr lang="en-US" altLang="ko-KR" sz="1100" dirty="0"/>
              <a:t>( 50, 75,  87.5% </a:t>
            </a:r>
            <a:r>
              <a:rPr lang="ko-KR" altLang="en-US" sz="1100" dirty="0"/>
              <a:t>아니면 </a:t>
            </a:r>
            <a:endParaRPr lang="en-US" altLang="ko-KR" sz="1100" dirty="0"/>
          </a:p>
          <a:p>
            <a:r>
              <a:rPr lang="en-US" altLang="ko-KR" sz="1100" dirty="0"/>
              <a:t>			</a:t>
            </a:r>
            <a:r>
              <a:rPr lang="ko-KR" altLang="en-US" sz="1100" dirty="0"/>
              <a:t>수집체계 유형에 고정인가요</a:t>
            </a:r>
            <a:r>
              <a:rPr lang="en-US" altLang="ko-KR" sz="1100" dirty="0"/>
              <a:t>?)</a:t>
            </a:r>
          </a:p>
          <a:p>
            <a:r>
              <a:rPr lang="en-US" altLang="ko-KR" sz="1100" dirty="0"/>
              <a:t> - </a:t>
            </a:r>
            <a:r>
              <a:rPr lang="en-US" altLang="ko-KR" sz="1100" dirty="0" err="1"/>
              <a:t>nNNType</a:t>
            </a:r>
            <a:r>
              <a:rPr lang="en-US" altLang="ko-KR" sz="1100" dirty="0"/>
              <a:t> 		: </a:t>
            </a:r>
            <a:r>
              <a:rPr lang="ko-KR" altLang="en-US" sz="1100" dirty="0"/>
              <a:t>소음규준 유형</a:t>
            </a:r>
            <a:endParaRPr lang="en-US" altLang="ko-KR" sz="1100" dirty="0"/>
          </a:p>
          <a:p>
            <a:r>
              <a:rPr lang="en-US" altLang="ko-KR" sz="1100" dirty="0"/>
              <a:t> - </a:t>
            </a:r>
            <a:r>
              <a:rPr lang="en-US" altLang="ko-KR" sz="1100" dirty="0" err="1"/>
              <a:t>nNNWndLen</a:t>
            </a:r>
            <a:r>
              <a:rPr lang="en-US" altLang="ko-KR" sz="1100" dirty="0"/>
              <a:t> 	: </a:t>
            </a:r>
            <a:r>
              <a:rPr lang="ko-KR" altLang="en-US" sz="1100" dirty="0"/>
              <a:t>소음규준 크기</a:t>
            </a:r>
            <a:endParaRPr lang="en-US" altLang="ko-KR" sz="1100" dirty="0"/>
          </a:p>
          <a:p>
            <a:r>
              <a:rPr lang="en-US" altLang="ko-KR" sz="1100" dirty="0"/>
              <a:t> - </a:t>
            </a:r>
            <a:r>
              <a:rPr lang="en-US" altLang="ko-KR" sz="1100" dirty="0" err="1"/>
              <a:t>nNNGapLen</a:t>
            </a:r>
            <a:r>
              <a:rPr lang="en-US" altLang="ko-KR" sz="1100" dirty="0"/>
              <a:t>	: </a:t>
            </a:r>
            <a:r>
              <a:rPr lang="ko-KR" altLang="en-US" sz="1100" dirty="0"/>
              <a:t>소음규준 간격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100" dirty="0"/>
              <a:t> - </a:t>
            </a:r>
            <a:r>
              <a:rPr lang="en-US" altLang="ko-KR" sz="1100" dirty="0" err="1"/>
              <a:t>fSTI_Time</a:t>
            </a:r>
            <a:r>
              <a:rPr lang="en-US" altLang="ko-KR" sz="1100" dirty="0"/>
              <a:t>	: </a:t>
            </a:r>
            <a:r>
              <a:rPr lang="ko-KR" altLang="en-US" sz="1100" dirty="0"/>
              <a:t>선형적분시간</a:t>
            </a:r>
            <a:endParaRPr lang="en-US" altLang="ko-KR" sz="1100" dirty="0"/>
          </a:p>
          <a:p>
            <a:r>
              <a:rPr lang="en-US" altLang="ko-KR" sz="1100" dirty="0"/>
              <a:t> - </a:t>
            </a:r>
            <a:r>
              <a:rPr lang="en-US" altLang="ko-KR" sz="1100" dirty="0" err="1"/>
              <a:t>fLTI_Time</a:t>
            </a:r>
            <a:r>
              <a:rPr lang="en-US" altLang="ko-KR" sz="1100" dirty="0"/>
              <a:t>	: </a:t>
            </a:r>
            <a:r>
              <a:rPr lang="ko-KR" altLang="en-US" sz="1100" dirty="0"/>
              <a:t>지수적분시간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255581-8C74-E59B-C8BA-619EAA80CFA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61" t="28618" r="19645" b="29580"/>
          <a:stretch/>
        </p:blipFill>
        <p:spPr>
          <a:xfrm rot="16200000">
            <a:off x="7115790" y="3570542"/>
            <a:ext cx="2227225" cy="280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354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777A6-1FD0-D61A-FC2C-69BF01EE3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8F7873-ECD1-0EF8-498A-44D64FAE650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61C9A0A-859E-0D5A-AA1D-B0BA924B53B6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0B4365-2575-9A94-3E26-A2B43C97CA1C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배포 목록</a:t>
            </a:r>
            <a:endParaRPr lang="ko-KR" altLang="en-US" sz="1600" dirty="0">
              <a:solidFill>
                <a:schemeClr val="tx2">
                  <a:lumMod val="50000"/>
                </a:scheme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E8A67-6244-1EA7-6E5D-907A501EF71D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ko-KR" altLang="en-US" sz="2200" kern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운용자단말기 배포 등록 목록 화면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2" name="내용 개체 틀 8" descr="스크린샷, 소프트웨어, 멀티미디어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AB7745-7862-8B1E-4A38-681ED72BD75D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7" y="1181763"/>
            <a:ext cx="5876938" cy="3183341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3A3D624B-1A0B-17AF-9808-C9804E069D9D}"/>
              </a:ext>
            </a:extLst>
          </p:cNvPr>
          <p:cNvSpPr txBox="1"/>
          <p:nvPr/>
        </p:nvSpPr>
        <p:spPr>
          <a:xfrm>
            <a:off x="6293435" y="1181763"/>
            <a:ext cx="33070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/>
              <a:t>함정급정보</a:t>
            </a:r>
            <a:r>
              <a:rPr lang="en-US" altLang="ko-KR" sz="1400"/>
              <a:t>, </a:t>
            </a:r>
            <a:r>
              <a:rPr lang="ko-KR" altLang="en-US" sz="1400"/>
              <a:t>함정</a:t>
            </a:r>
            <a:r>
              <a:rPr lang="en-US" altLang="ko-KR" sz="1400"/>
              <a:t>/NB,  AI </a:t>
            </a:r>
            <a:r>
              <a:rPr lang="ko-KR" altLang="en-US" sz="1400"/>
              <a:t>등 개수를 알려면 </a:t>
            </a:r>
            <a:endParaRPr lang="en-US" altLang="ko-KR" sz="1400"/>
          </a:p>
          <a:p>
            <a:r>
              <a:rPr lang="ko-KR" altLang="en-US" sz="1400"/>
              <a:t>배포 압축파일이 압축해제가 되어있어야 함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endParaRPr lang="en-US" altLang="ko-KR" sz="1400"/>
          </a:p>
          <a:p>
            <a:r>
              <a:rPr lang="ko-KR" altLang="en-US" sz="1400"/>
              <a:t>그럴경우 압축 해제해서 목록에 보이고</a:t>
            </a:r>
            <a:r>
              <a:rPr lang="en-US" altLang="ko-KR" sz="1400"/>
              <a:t>, </a:t>
            </a:r>
          </a:p>
          <a:p>
            <a:endParaRPr lang="en-US" altLang="ko-KR" sz="1400"/>
          </a:p>
          <a:p>
            <a:r>
              <a:rPr lang="ko-KR" altLang="en-US" sz="1400"/>
              <a:t>압축된걸 배포후</a:t>
            </a:r>
            <a:r>
              <a:rPr lang="en-US" altLang="ko-KR" sz="1400"/>
              <a:t>, </a:t>
            </a:r>
            <a:r>
              <a:rPr lang="ko-KR" altLang="en-US" sz="1400"/>
              <a:t>압축파일과 압축해제폴더 모두 삭제가 필요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350305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777A6-1FD0-D61A-FC2C-69BF01EE3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8F7873-ECD1-0EF8-498A-44D64FAE650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61C9A0A-859E-0D5A-AA1D-B0BA924B53B6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0B4365-2575-9A94-3E26-A2B43C97CA1C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smtClean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수집원음자료</a:t>
            </a:r>
            <a:endParaRPr lang="ko-KR" altLang="en-US" sz="1600" dirty="0">
              <a:solidFill>
                <a:schemeClr val="tx2">
                  <a:lumMod val="50000"/>
                </a:scheme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E8A67-6244-1EA7-6E5D-907A501EF71D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en-US" altLang="ko-KR" sz="2200" kern="0" smtClean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DB</a:t>
            </a:r>
            <a:r>
              <a:rPr lang="ko-KR" altLang="en-US" sz="2200" kern="0" smtClean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이식을 위한 기존 체계 폴더 구조 정리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85" y="1088741"/>
            <a:ext cx="4788531" cy="2811433"/>
          </a:xfrm>
          <a:prstGeom prst="rect">
            <a:avLst/>
          </a:prstGeom>
        </p:spPr>
      </p:pic>
      <p:graphicFrame>
        <p:nvGraphicFramePr>
          <p:cNvPr id="25" name="Table 2">
            <a:extLst>
              <a:ext uri="{FF2B5EF4-FFF2-40B4-BE49-F238E27FC236}">
                <a16:creationId xmlns:a16="http://schemas.microsoft.com/office/drawing/2014/main" id="{5B88D532-33C9-971E-D0E7-5CA1A04BD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259055"/>
              </p:ext>
            </p:extLst>
          </p:nvPr>
        </p:nvGraphicFramePr>
        <p:xfrm>
          <a:off x="3512840" y="1808657"/>
          <a:ext cx="5832647" cy="3823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2231">
                  <a:extLst>
                    <a:ext uri="{9D8B030D-6E8A-4147-A177-3AD203B41FA5}">
                      <a16:colId xmlns:a16="http://schemas.microsoft.com/office/drawing/2014/main" val="909590314"/>
                    </a:ext>
                  </a:extLst>
                </a:gridCol>
                <a:gridCol w="2351163">
                  <a:extLst>
                    <a:ext uri="{9D8B030D-6E8A-4147-A177-3AD203B41FA5}">
                      <a16:colId xmlns:a16="http://schemas.microsoft.com/office/drawing/2014/main" val="622234404"/>
                    </a:ext>
                  </a:extLst>
                </a:gridCol>
                <a:gridCol w="2099253">
                  <a:extLst>
                    <a:ext uri="{9D8B030D-6E8A-4147-A177-3AD203B41FA5}">
                      <a16:colId xmlns:a16="http://schemas.microsoft.com/office/drawing/2014/main" val="1889851521"/>
                    </a:ext>
                  </a:extLst>
                </a:gridCol>
              </a:tblGrid>
              <a:tr h="2162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파일명</a:t>
                      </a:r>
                      <a:endParaRPr lang="ko-KR" altLang="en-US" sz="11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파싱 대상 테이블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파싱 대상 필드</a:t>
                      </a:r>
                      <a:endParaRPr lang="ko-KR" altLang="en-US" sz="11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26562"/>
                  </a:ext>
                </a:extLst>
              </a:tr>
              <a:tr h="309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협대역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/Signal_*.wav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RAW_SCHANNEL_INFO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CHANNEL_AUDIO_FILENAME (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경로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456757"/>
                  </a:ext>
                </a:extLst>
              </a:tr>
              <a:tr h="3816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협대역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/*.grm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RAW_SCHANNEL_NB_INFO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ANLAY_LOFAR_GRAM_FILE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ANLAY_DEMON_GRAM_FILE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ANLAY_DEMON_GRAM_FILE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642899"/>
                  </a:ext>
                </a:extLst>
              </a:tr>
              <a:tr h="3095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협대역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/NBlist.txt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RAW_SCHANNEL_NB_EXTRACT_INFO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EXT_NB_SIG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EXTRACT_STRAT_DATETIME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EXTRACT_END_DATETIME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6746539"/>
                  </a:ext>
                </a:extLst>
              </a:tr>
              <a:tr h="381695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협대역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/SPSlist.txt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RAW_SCHANNEL_SS_EVENT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DETECTING_TYPE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START_MICROSEC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END_MICROSEC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5563868"/>
                  </a:ext>
                </a:extLst>
              </a:tr>
              <a:tr h="381695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RAW_SCHANNEL_SS_SEGMENT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DETECT_TYPE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START_MICROSEC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END_MICROSEC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236382"/>
                  </a:ext>
                </a:extLst>
              </a:tr>
              <a:tr h="3095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협대역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/Detect.dat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단주기 탐지 데이터 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신호처리 시 생성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875996"/>
                  </a:ext>
                </a:extLst>
              </a:tr>
              <a:tr h="30959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_*.nb/Signal.wav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EXTRACT_DATA_STORE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DATA (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발췌 원음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419251"/>
                  </a:ext>
                </a:extLst>
              </a:tr>
              <a:tr h="30959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_*.sd/Signal_*.wav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EXTRACT_DATA_STORE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DATA (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발췌 원음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488383"/>
                  </a:ext>
                </a:extLst>
              </a:tr>
              <a:tr h="309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_*.sd/SPSlist.txt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협대역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/SPSlist.txt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과 동일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943689"/>
                  </a:ext>
                </a:extLst>
              </a:tr>
              <a:tr h="3095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보조정보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.alg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별도 표기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590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7396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777A6-1FD0-D61A-FC2C-69BF01EE3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8F7873-ECD1-0EF8-498A-44D64FAE650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61C9A0A-859E-0D5A-AA1D-B0BA924B53B6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0B4365-2575-9A94-3E26-A2B43C97CA1C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smtClean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협대역원음자료</a:t>
            </a:r>
            <a:endParaRPr lang="ko-KR" altLang="en-US" sz="1600" dirty="0">
              <a:solidFill>
                <a:schemeClr val="tx2">
                  <a:lumMod val="50000"/>
                </a:scheme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E8A67-6244-1EA7-6E5D-907A501EF71D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en-US" altLang="ko-KR" sz="2200" kern="0" smtClean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DB</a:t>
            </a:r>
            <a:r>
              <a:rPr lang="ko-KR" altLang="en-US" sz="2200" kern="0" smtClean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이식을 위한 기존 체계 폴더 구조 정리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909"/>
          <a:stretch/>
        </p:blipFill>
        <p:spPr>
          <a:xfrm>
            <a:off x="308484" y="1833972"/>
            <a:ext cx="4644516" cy="3240360"/>
          </a:xfrm>
          <a:prstGeom prst="rect">
            <a:avLst/>
          </a:prstGeom>
        </p:spPr>
      </p:pic>
      <p:graphicFrame>
        <p:nvGraphicFramePr>
          <p:cNvPr id="10" name="Table 2">
            <a:extLst>
              <a:ext uri="{FF2B5EF4-FFF2-40B4-BE49-F238E27FC236}">
                <a16:creationId xmlns:a16="http://schemas.microsoft.com/office/drawing/2014/main" id="{5B88D532-33C9-971E-D0E7-5CA1A04BD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169712"/>
              </p:ext>
            </p:extLst>
          </p:nvPr>
        </p:nvGraphicFramePr>
        <p:xfrm>
          <a:off x="3580480" y="1376772"/>
          <a:ext cx="5832647" cy="2727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909590314"/>
                    </a:ext>
                  </a:extLst>
                </a:gridCol>
                <a:gridCol w="2149218">
                  <a:extLst>
                    <a:ext uri="{9D8B030D-6E8A-4147-A177-3AD203B41FA5}">
                      <a16:colId xmlns:a16="http://schemas.microsoft.com/office/drawing/2014/main" val="622234404"/>
                    </a:ext>
                  </a:extLst>
                </a:gridCol>
                <a:gridCol w="2099253">
                  <a:extLst>
                    <a:ext uri="{9D8B030D-6E8A-4147-A177-3AD203B41FA5}">
                      <a16:colId xmlns:a16="http://schemas.microsoft.com/office/drawing/2014/main" val="18898515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파일명</a:t>
                      </a:r>
                      <a:endParaRPr lang="ko-KR" altLang="en-US" sz="11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파싱 대상 테이블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파싱 대상 필드</a:t>
                      </a:r>
                      <a:endParaRPr lang="ko-KR" altLang="en-US" sz="11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26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/Snippets/nb_*.wav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STD_NB_SNIPPET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NB_AUDIO_SNIPPET_FILE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456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/Snippets/nb_*.grm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STD_NB_SNIPPET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NB_GRAM_SNIPPET_DATA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642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SnpTmp/nb_*.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wav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PREC_NB_SNIPPET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NB_AUDIO_SNIPPET_FILE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7584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Snippets/nb_*.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grm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PREC_NB_SNIPPET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NB_GRAM_SNIPPET_DATA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0222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/nb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_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식별결과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.fea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PREC_NB_SIGNATURE</a:t>
                      </a:r>
                    </a:p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PREC_NB_HARMONIC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(HarmonicList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 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Harmonic</a:t>
                      </a:r>
                      <a:r>
                        <a:rPr lang="en-US" altLang="ko-KR" sz="800" baseline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DB</a:t>
                      </a:r>
                      <a:r>
                        <a:rPr lang="ko-KR" altLang="en-US" sz="800" baseline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와 연결</a:t>
                      </a:r>
                      <a:r>
                        <a:rPr lang="en-US" altLang="ko-KR" sz="800" baseline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2290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/nb_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식별결과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.cla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PREC_NB_CLASSIFICATION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418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식별파라미터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.dat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식별 수행 시 입력한 파라미터</a:t>
                      </a:r>
                      <a:r>
                        <a:rPr lang="ko-KR" altLang="en-US" sz="800" baseline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en-US" altLang="ko-KR" sz="800" baseline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800" baseline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파싱 대상 없음</a:t>
                      </a:r>
                      <a:r>
                        <a:rPr lang="en-US" altLang="ko-KR" sz="800" baseline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606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Signal.wav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EXTRACT_DATA_STORE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DATA (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발췌 원음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419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정밀신호처리파라미터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.set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PREC_NB_ANALYSIS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파라미터 관련 필드 전체 호환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488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*.grm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PREC_NB_SP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GRAM_FILE (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신호처리 결과 그램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943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보조정보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.alg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별도 표기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590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59606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777A6-1FD0-D61A-FC2C-69BF01EE3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8F7873-ECD1-0EF8-498A-44D64FAE650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69424" y="6499501"/>
            <a:ext cx="864096" cy="365125"/>
          </a:xfrm>
        </p:spPr>
        <p:txBody>
          <a:bodyPr/>
          <a:lstStyle/>
          <a:p>
            <a:fld id="{08C73B5C-1215-40DE-AE64-AD361FC995C7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61C9A0A-859E-0D5A-AA1D-B0BA924B53B6}"/>
              </a:ext>
            </a:extLst>
          </p:cNvPr>
          <p:cNvSpPr/>
          <p:nvPr/>
        </p:nvSpPr>
        <p:spPr>
          <a:xfrm>
            <a:off x="1568624" y="18339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0B4365-2575-9A94-3E26-A2B43C97CA1C}"/>
              </a:ext>
            </a:extLst>
          </p:cNvPr>
          <p:cNvSpPr txBox="1"/>
          <p:nvPr/>
        </p:nvSpPr>
        <p:spPr>
          <a:xfrm>
            <a:off x="897584" y="698104"/>
            <a:ext cx="3875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smtClean="0">
                <a:solidFill>
                  <a:schemeClr val="tx2">
                    <a:lumMod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단주기원음자료</a:t>
            </a:r>
            <a:endParaRPr lang="ko-KR" altLang="en-US" sz="1600" dirty="0">
              <a:solidFill>
                <a:schemeClr val="tx2">
                  <a:lumMod val="50000"/>
                </a:schemeClr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E8A67-6244-1EA7-6E5D-907A501EF71D}"/>
              </a:ext>
            </a:extLst>
          </p:cNvPr>
          <p:cNvSpPr txBox="1"/>
          <p:nvPr/>
        </p:nvSpPr>
        <p:spPr>
          <a:xfrm>
            <a:off x="3531" y="15880"/>
            <a:ext cx="7181717" cy="501548"/>
          </a:xfrm>
          <a:prstGeom prst="rect">
            <a:avLst/>
          </a:prstGeom>
          <a:noFill/>
        </p:spPr>
        <p:txBody>
          <a:bodyPr wrap="square" tIns="144000" anchor="ctr" anchorCtr="0">
            <a:noAutofit/>
          </a:bodyPr>
          <a:lstStyle/>
          <a:p>
            <a:pPr marL="357188" indent="-357188">
              <a:lnSpc>
                <a:spcPts val="1600"/>
              </a:lnSpc>
              <a:buClr>
                <a:srgbClr val="1673B9"/>
              </a:buClr>
              <a:buFont typeface="Wingdings" panose="05000000000000000000" pitchFamily="2" charset="2"/>
              <a:buChar char="v"/>
            </a:pPr>
            <a:r>
              <a:rPr lang="en-US" altLang="ko-KR" sz="2200" kern="0" smtClean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DB</a:t>
            </a:r>
            <a:r>
              <a:rPr lang="ko-KR" altLang="en-US" sz="2200" kern="0" smtClean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이식을 위한 기존 체계 폴더 구조 정리</a:t>
            </a:r>
            <a:endParaRPr lang="en-US" altLang="ko-KR" sz="2200" kern="0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5"/>
          <a:stretch/>
        </p:blipFill>
        <p:spPr>
          <a:xfrm>
            <a:off x="308484" y="1160748"/>
            <a:ext cx="3199988" cy="4536504"/>
          </a:xfrm>
          <a:prstGeom prst="rect">
            <a:avLst/>
          </a:prstGeom>
        </p:spPr>
      </p:pic>
      <p:graphicFrame>
        <p:nvGraphicFramePr>
          <p:cNvPr id="10" name="Table 2">
            <a:extLst>
              <a:ext uri="{FF2B5EF4-FFF2-40B4-BE49-F238E27FC236}">
                <a16:creationId xmlns:a16="http://schemas.microsoft.com/office/drawing/2014/main" id="{5B88D532-33C9-971E-D0E7-5CA1A04BD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100248"/>
              </p:ext>
            </p:extLst>
          </p:nvPr>
        </p:nvGraphicFramePr>
        <p:xfrm>
          <a:off x="3580480" y="1376772"/>
          <a:ext cx="5832647" cy="422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8564">
                  <a:extLst>
                    <a:ext uri="{9D8B030D-6E8A-4147-A177-3AD203B41FA5}">
                      <a16:colId xmlns:a16="http://schemas.microsoft.com/office/drawing/2014/main" val="909590314"/>
                    </a:ext>
                  </a:extLst>
                </a:gridCol>
                <a:gridCol w="1964830">
                  <a:extLst>
                    <a:ext uri="{9D8B030D-6E8A-4147-A177-3AD203B41FA5}">
                      <a16:colId xmlns:a16="http://schemas.microsoft.com/office/drawing/2014/main" val="622234404"/>
                    </a:ext>
                  </a:extLst>
                </a:gridCol>
                <a:gridCol w="2099253">
                  <a:extLst>
                    <a:ext uri="{9D8B030D-6E8A-4147-A177-3AD203B41FA5}">
                      <a16:colId xmlns:a16="http://schemas.microsoft.com/office/drawing/2014/main" val="18898515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파일명</a:t>
                      </a:r>
                      <a:endParaRPr lang="ko-KR" altLang="en-US" sz="11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파싱 대상 테이블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파싱 대상 필드</a:t>
                      </a:r>
                      <a:endParaRPr lang="ko-KR" altLang="en-US" sz="11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26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/AI/Snippets/ai_*.wav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STD_AI_SNIPPET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AUDIO_FILE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456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/AI/Snippets/ai_*.grm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STD_AI_SNIPPET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GRAM_FILE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642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/AI/SnpTmp/ai_*.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wav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PREC_SS_EVENT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AI_AUDIO_SNIPPET_FILE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5456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/AI/Snippets/ai_*.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grm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PREC_SS_EVENT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GRAM_SNIPPET_FILE</a:t>
                      </a:r>
                      <a:endParaRPr lang="en-US" altLang="ko-KR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0306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/AI/ai_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식별결과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.tmp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PREC_SS_EVENT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8950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/AI/ai_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식별결과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.cla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STD_AI_SNIPPET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8519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/AI/AI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탐지리스트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.lst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이벤트리스트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.lst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와 동일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3088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/TR/Snippets/tr_*.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wav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STD_TR_SNIPPET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AUDIO_FILE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7584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/TR/Snippets/tr_*.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grm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STD_TR_SNIPPET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GRAM_FILE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0222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/TR/SnpTmp/ai_*.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wav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PREC_SS_SEGMENT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TR_AUDIO_SNIPPET_FILE_NAME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5961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/TR/Snippets/ai_*.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grm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PREC_SS_SEGMENT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GRAM_FILE</a:t>
                      </a:r>
                      <a:endParaRPr lang="en-US" altLang="ko-KR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745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/TR/tr_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식별결과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.tmp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PREC_SS_SEGMENT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2290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/TR/tr_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식별결과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.cla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STD_TR_SNIPPET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418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/TR/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순간소음탐지리스트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.lst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이벤트리스트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.lst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와 동일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178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정밀분석설정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.set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PREC_SS_ANALYSIS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파라미터 관련 필드 전체 호환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419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SPSlist.lst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협대역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/SPSlist.txt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과 동일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488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이벤트리스트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.lst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PREC_SS_EVENT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PREC_SS_SEGMENT</a:t>
                      </a:r>
                      <a:endParaRPr lang="ko-KR" altLang="en-US" sz="800" smtClean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943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Signal_*.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wav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EXTRACT_DATA_STORE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DATA (</a:t>
                      </a:r>
                      <a:r>
                        <a:rPr lang="ko-KR" altLang="en-US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발췌 원음</a:t>
                      </a:r>
                      <a:r>
                        <a:rPr lang="en-US" altLang="ko-KR" sz="80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8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0504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617984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47377</TotalTime>
  <Words>1426</Words>
  <Application>Microsoft Office PowerPoint</Application>
  <PresentationFormat>A4 용지(210x297mm)</PresentationFormat>
  <Paragraphs>388</Paragraphs>
  <Slides>30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30</vt:i4>
      </vt:variant>
    </vt:vector>
  </HeadingPairs>
  <TitlesOfParts>
    <vt:vector size="39" baseType="lpstr">
      <vt:lpstr>HY견고딕</vt:lpstr>
      <vt:lpstr>Noto Sans KR</vt:lpstr>
      <vt:lpstr>굴림</vt:lpstr>
      <vt:lpstr>나눔스퀘어라운드 Regular</vt:lpstr>
      <vt:lpstr>맑은 고딕</vt:lpstr>
      <vt:lpstr>Arial</vt:lpstr>
      <vt:lpstr>Wingdings</vt:lpstr>
      <vt:lpstr>1_디자인 사용자 지정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녹음 추출 플로우</vt:lpstr>
      <vt:lpstr>PowerPoint 프레젠테이션</vt:lpstr>
      <vt:lpstr>PowerPoint 프레젠테이션</vt:lpstr>
      <vt:lpstr>PowerPoint 프레젠테이션</vt:lpstr>
      <vt:lpstr>PowerPoint 프레젠테이션</vt:lpstr>
      <vt:lpstr>녹화 재생 플로우</vt:lpstr>
      <vt:lpstr>녹화 추출 플로우</vt:lpstr>
      <vt:lpstr>PowerPoint 프레젠테이션</vt:lpstr>
      <vt:lpstr>PowerPoint 프레젠테이션</vt:lpstr>
      <vt:lpstr>PowerPoint 프레젠테이션</vt:lpstr>
      <vt:lpstr>PowerPoint 프레젠테이션</vt:lpstr>
      <vt:lpstr>송신/배포자료 정보(기준식별DB 배포파일)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BKKIM</dc:creator>
  <cp:lastModifiedBy>TUKIM</cp:lastModifiedBy>
  <cp:revision>1981</cp:revision>
  <cp:lastPrinted>2022-10-19T00:42:01Z</cp:lastPrinted>
  <dcterms:created xsi:type="dcterms:W3CDTF">1601-01-01T00:00:00Z</dcterms:created>
  <dcterms:modified xsi:type="dcterms:W3CDTF">2026-01-14T16:54:11Z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